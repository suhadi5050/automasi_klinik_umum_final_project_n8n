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Plus Jakarta Sans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Hea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Tampungan Tanggal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BFC4DE-4336-480B-A304-F9EEBC59890C}" type="datetimeFigureOut">
              <a:rPr lang="en-ID" smtClean="0"/>
              <a:t>01/10/2026</a:t>
            </a:fld>
            <a:endParaRPr lang="en-ID"/>
          </a:p>
        </p:txBody>
      </p:sp>
      <p:sp>
        <p:nvSpPr>
          <p:cNvPr id="4" name="Tampungan Gambar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Tampungan Catata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ID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6A2AFB-0F0E-4542-8FAF-F7E49725B6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5997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A2AFB-0F0E-4542-8FAF-F7E49725B6B3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38774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1633536"/>
            <a:ext cx="2670399" cy="338137"/>
          </a:xfrm>
          <a:prstGeom prst="roundRect">
            <a:avLst>
              <a:gd name="adj" fmla="val 50000"/>
            </a:avLst>
          </a:prstGeom>
          <a:solidFill>
            <a:srgbClr val="17335B"/>
          </a:solidFill>
          <a:ln w="9525">
            <a:solidFill>
              <a:srgbClr val="1C49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Rounded Rectangle 3"/>
          <p:cNvSpPr/>
          <p:nvPr/>
        </p:nvSpPr>
        <p:spPr>
          <a:xfrm>
            <a:off x="762000" y="4833937"/>
            <a:ext cx="2066925" cy="390525"/>
          </a:xfrm>
          <a:prstGeom prst="roundRect">
            <a:avLst>
              <a:gd name="adj" fmla="val 29268"/>
            </a:avLst>
          </a:prstGeom>
          <a:solidFill>
            <a:srgbClr val="1C2334"/>
          </a:solidFill>
          <a:ln w="9525">
            <a:solidFill>
              <a:srgbClr val="23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" name="Rounded Rectangle 4"/>
          <p:cNvSpPr/>
          <p:nvPr/>
        </p:nvSpPr>
        <p:spPr>
          <a:xfrm>
            <a:off x="3019425" y="4833937"/>
            <a:ext cx="1819275" cy="390525"/>
          </a:xfrm>
          <a:prstGeom prst="roundRect">
            <a:avLst>
              <a:gd name="adj" fmla="val 29268"/>
            </a:avLst>
          </a:prstGeom>
          <a:solidFill>
            <a:srgbClr val="1C2334"/>
          </a:solidFill>
          <a:ln w="9525">
            <a:solidFill>
              <a:srgbClr val="23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5029200" y="4833937"/>
            <a:ext cx="1800225" cy="390525"/>
          </a:xfrm>
          <a:prstGeom prst="roundRect">
            <a:avLst>
              <a:gd name="adj" fmla="val 29268"/>
            </a:avLst>
          </a:prstGeom>
          <a:solidFill>
            <a:srgbClr val="1C2334"/>
          </a:solidFill>
          <a:ln w="9525">
            <a:solidFill>
              <a:srgbClr val="23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414712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" y="1728787"/>
            <a:ext cx="119062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3500437"/>
            <a:ext cx="17145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" y="4957762"/>
            <a:ext cx="1428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4957762"/>
            <a:ext cx="1428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0175" y="4957762"/>
            <a:ext cx="142875" cy="142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2166937"/>
            <a:ext cx="9301162" cy="1113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sz="4400" b="1" i="0" u="none">
                <a:solidFill>
                  <a:srgbClr val="FFFFFF"/>
                </a:solidFill>
                <a:latin typeface="Plus Jakarta Sans"/>
              </a:rPr>
              <a:t>Otomasi Triase &amp; Pendaftaran Pasien Berbasis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948112"/>
            <a:ext cx="77152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600" b="0" i="0" u="none" dirty="0" err="1">
                <a:solidFill>
                  <a:srgbClr val="94A3B8"/>
                </a:solidFill>
                <a:latin typeface="Plus Jakarta Sans"/>
              </a:rPr>
              <a:t>Sistem</a:t>
            </a:r>
            <a:r>
              <a:rPr sz="16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600" b="0" i="0" u="none" dirty="0" err="1">
                <a:solidFill>
                  <a:srgbClr val="94A3B8"/>
                </a:solidFill>
                <a:latin typeface="Plus Jakarta Sans"/>
              </a:rPr>
              <a:t>pendaftaran</a:t>
            </a:r>
            <a:r>
              <a:rPr sz="1600" b="0" i="0" u="none" dirty="0">
                <a:solidFill>
                  <a:srgbClr val="94A3B8"/>
                </a:solidFill>
                <a:latin typeface="Plus Jakarta Sans"/>
              </a:rPr>
              <a:t> real-time </a:t>
            </a:r>
            <a:r>
              <a:rPr sz="1600" b="0" i="0" u="none" dirty="0" err="1">
                <a:solidFill>
                  <a:srgbClr val="94A3B8"/>
                </a:solidFill>
                <a:latin typeface="Plus Jakarta Sans"/>
              </a:rPr>
              <a:t>cerdas</a:t>
            </a:r>
            <a:r>
              <a:rPr sz="16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600" b="0" i="0" u="none" dirty="0" err="1">
                <a:solidFill>
                  <a:srgbClr val="94A3B8"/>
                </a:solidFill>
                <a:latin typeface="Plus Jakarta Sans"/>
              </a:rPr>
              <a:t>dengan</a:t>
            </a:r>
            <a:r>
              <a:rPr sz="16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600" b="0" i="0" u="none" dirty="0" err="1">
                <a:solidFill>
                  <a:srgbClr val="94A3B8"/>
                </a:solidFill>
                <a:latin typeface="Plus Jakarta Sans"/>
              </a:rPr>
              <a:t>integrasi</a:t>
            </a:r>
            <a:r>
              <a:rPr sz="1600" b="0" i="0" u="none" dirty="0">
                <a:solidFill>
                  <a:srgbClr val="94A3B8"/>
                </a:solidFill>
                <a:latin typeface="Plus Jakarta Sans"/>
              </a:rPr>
              <a:t> n8n, Google Gemini AI, Google Sheets, dan Telegram Bot.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362" y="1690687"/>
            <a:ext cx="258603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 dirty="0">
                <a:solidFill>
                  <a:srgbClr val="38BDF8"/>
                </a:solidFill>
                <a:latin typeface="Plus Jakarta Sans"/>
              </a:rPr>
              <a:t>      </a:t>
            </a:r>
            <a:r>
              <a:rPr sz="1400" b="1" i="0" u="none" dirty="0">
                <a:solidFill>
                  <a:srgbClr val="38BDF8"/>
                </a:solidFill>
                <a:latin typeface="Plus Jakarta Sans"/>
              </a:rPr>
              <a:t>FINAL PROJECT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5881" y="1700212"/>
            <a:ext cx="10900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64748B"/>
                </a:solidFill>
                <a:latin typeface="Plus Jakarta Sans"/>
              </a:rPr>
              <a:t>• Klinik Umum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50" y="3457575"/>
            <a:ext cx="157414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38BDF8"/>
                </a:solidFill>
                <a:latin typeface="Plus Jakarta Sans"/>
              </a:rPr>
              <a:t>Oleh: Rizky Suhadi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1575" y="4921478"/>
            <a:ext cx="19431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u="none" dirty="0">
                <a:solidFill>
                  <a:srgbClr val="E2E8F0"/>
                </a:solidFill>
                <a:latin typeface="Plus Jakarta Sans"/>
              </a:rPr>
              <a:t>Engine: n8n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921478"/>
            <a:ext cx="13335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u="none">
                <a:solidFill>
                  <a:srgbClr val="E2E8F0"/>
                </a:solidFill>
                <a:latin typeface="Plus Jakarta Sans"/>
              </a:rPr>
              <a:t>AI: Google 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8775" y="4921478"/>
            <a:ext cx="131445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u="none">
                <a:solidFill>
                  <a:srgbClr val="E2E8F0"/>
                </a:solidFill>
                <a:latin typeface="Plus Jakarta Sans"/>
              </a:rPr>
              <a:t>Bot: Telegram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315450" y="661987"/>
            <a:ext cx="2114550" cy="381000"/>
          </a:xfrm>
          <a:prstGeom prst="roundRect">
            <a:avLst>
              <a:gd name="adj" fmla="val 25000"/>
            </a:avLst>
          </a:prstGeom>
          <a:solidFill>
            <a:srgbClr val="2E1929"/>
          </a:solidFill>
          <a:ln w="9525">
            <a:solidFill>
              <a:srgbClr val="55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Rounded Rectangle 3"/>
          <p:cNvSpPr/>
          <p:nvPr/>
        </p:nvSpPr>
        <p:spPr>
          <a:xfrm>
            <a:off x="762000" y="2455068"/>
            <a:ext cx="3378249" cy="2890837"/>
          </a:xfrm>
          <a:prstGeom prst="roundRect">
            <a:avLst>
              <a:gd name="adj" fmla="val 5271"/>
            </a:avLst>
          </a:prstGeom>
          <a:solidFill>
            <a:srgbClr val="1E293B"/>
          </a:solidFill>
          <a:ln w="9525">
            <a:solidFill>
              <a:srgbClr val="22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06949" y="2455068"/>
            <a:ext cx="3378249" cy="2890836"/>
          </a:xfrm>
          <a:prstGeom prst="roundRect">
            <a:avLst>
              <a:gd name="adj" fmla="val 5755"/>
            </a:avLst>
          </a:prstGeom>
          <a:solidFill>
            <a:srgbClr val="1E293B"/>
          </a:solidFill>
          <a:ln w="9525">
            <a:solidFill>
              <a:srgbClr val="22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899" y="2455068"/>
            <a:ext cx="3378249" cy="2890837"/>
          </a:xfrm>
          <a:prstGeom prst="roundRect">
            <a:avLst>
              <a:gd name="adj" fmla="val 5271"/>
            </a:avLst>
          </a:prstGeom>
          <a:solidFill>
            <a:srgbClr val="1E293B"/>
          </a:solidFill>
          <a:ln w="9525">
            <a:solidFill>
              <a:srgbClr val="22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2000" y="533400"/>
            <a:ext cx="1676400" cy="238125"/>
          </a:xfrm>
          <a:prstGeom prst="roundRect">
            <a:avLst>
              <a:gd name="adj" fmla="val 24000"/>
            </a:avLst>
          </a:prstGeom>
          <a:solidFill>
            <a:srgbClr val="381A29"/>
          </a:solidFill>
          <a:ln w="9525">
            <a:solidFill>
              <a:srgbClr val="55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" name="Rounded Rectangle 7"/>
          <p:cNvSpPr/>
          <p:nvPr/>
        </p:nvSpPr>
        <p:spPr>
          <a:xfrm>
            <a:off x="1038225" y="2769393"/>
            <a:ext cx="38100" cy="381000"/>
          </a:xfrm>
          <a:prstGeom prst="roundRect">
            <a:avLst>
              <a:gd name="adj" fmla="val 50000"/>
            </a:avLst>
          </a:prstGeom>
          <a:solidFill>
            <a:srgbClr val="438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83174" y="2814636"/>
            <a:ext cx="38100" cy="381000"/>
          </a:xfrm>
          <a:prstGeom prst="roundRect">
            <a:avLst>
              <a:gd name="adj" fmla="val 50000"/>
            </a:avLst>
          </a:prstGeom>
          <a:solidFill>
            <a:srgbClr val="EA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328124" y="2769393"/>
            <a:ext cx="38100" cy="381000"/>
          </a:xfrm>
          <a:prstGeom prst="roundRect">
            <a:avLst>
              <a:gd name="adj" fmla="val 50000"/>
            </a:avLst>
          </a:prstGeom>
          <a:solidFill>
            <a:srgbClr val="EA9B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475" y="795337"/>
            <a:ext cx="13335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3324565"/>
            <a:ext cx="495300" cy="495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3174" y="3391579"/>
            <a:ext cx="495300" cy="495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8124" y="3302793"/>
            <a:ext cx="495300" cy="495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436143"/>
            <a:ext cx="2857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5099" y="3514043"/>
            <a:ext cx="1714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474" y="3436143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701890" y="768122"/>
            <a:ext cx="1828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87171"/>
                </a:solidFill>
                <a:latin typeface="Plus Jakarta Sans"/>
              </a:rPr>
              <a:t>Risiko </a:t>
            </a:r>
            <a:r>
              <a:rPr sz="1200" b="1" i="0" u="none" dirty="0" err="1">
                <a:solidFill>
                  <a:srgbClr val="F87171"/>
                </a:solidFill>
                <a:latin typeface="Plus Jakarta Sans"/>
              </a:rPr>
              <a:t>Inefisiensi</a:t>
            </a:r>
            <a:r>
              <a:rPr sz="1200" b="1" i="0" u="none" dirty="0">
                <a:solidFill>
                  <a:srgbClr val="F87171"/>
                </a:solidFill>
                <a:latin typeface="Plus Jakarta Sans"/>
              </a:rPr>
              <a:t> Tinggi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571500"/>
            <a:ext cx="15430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7171"/>
                </a:solidFill>
                <a:latin typeface="Plus Jakarta Sans"/>
              </a:rPr>
              <a:t>IDENTIFIKASI MASALAH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845005"/>
            <a:ext cx="612770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FFFFFF"/>
                </a:solidFill>
                <a:latin typeface="Plus Jakarta Sans"/>
              </a:rPr>
              <a:t>Tantangan</a:t>
            </a:r>
            <a:r>
              <a:rPr sz="30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3000" b="1" i="0" u="none" dirty="0" err="1">
                <a:solidFill>
                  <a:srgbClr val="FFFFFF"/>
                </a:solidFill>
                <a:latin typeface="Plus Jakarta Sans"/>
              </a:rPr>
              <a:t>Pendaftaran</a:t>
            </a:r>
            <a:r>
              <a:rPr sz="30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3000" b="1" i="0" u="none" dirty="0" err="1">
                <a:solidFill>
                  <a:srgbClr val="FFFFFF"/>
                </a:solidFill>
                <a:latin typeface="Plus Jakarta Sans"/>
              </a:rPr>
              <a:t>Pasien</a:t>
            </a:r>
            <a:r>
              <a:rPr sz="3000" b="1" i="0" u="none" dirty="0">
                <a:solidFill>
                  <a:srgbClr val="FFFFFF"/>
                </a:solidFill>
                <a:latin typeface="Plus Jakarta Sans"/>
              </a:rPr>
              <a:t> Manual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5" y="4059353"/>
            <a:ext cx="172540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 err="1">
                <a:solidFill>
                  <a:srgbClr val="FFFFFF"/>
                </a:solidFill>
                <a:latin typeface="Plus Jakarta Sans"/>
              </a:rPr>
              <a:t>Antrean</a:t>
            </a:r>
            <a:r>
              <a:rPr sz="16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1600" b="1" i="0" u="none" dirty="0" err="1">
                <a:solidFill>
                  <a:srgbClr val="FFFFFF"/>
                </a:solidFill>
                <a:latin typeface="Plus Jakarta Sans"/>
              </a:rPr>
              <a:t>Menumpuk</a:t>
            </a:r>
            <a:endParaRPr sz="16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38225" y="4444433"/>
            <a:ext cx="2921049" cy="473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Proses </a:t>
            </a:r>
            <a:r>
              <a:rPr sz="1400" b="0" i="0" u="none" dirty="0" err="1">
                <a:solidFill>
                  <a:srgbClr val="CBD5E1"/>
                </a:solidFill>
                <a:latin typeface="Plus Jakarta Sans"/>
              </a:rPr>
              <a:t>pencatatan</a:t>
            </a:r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Plus Jakarta Sans"/>
              </a:rPr>
              <a:t>fisik</a:t>
            </a:r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Plus Jakarta Sans"/>
              </a:rPr>
              <a:t>memperlambat</a:t>
            </a:r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Plus Jakarta Sans"/>
              </a:rPr>
              <a:t>registrasi</a:t>
            </a:r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Plus Jakarta Sans"/>
              </a:rPr>
              <a:t>pasien</a:t>
            </a:r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 di </a:t>
            </a:r>
            <a:r>
              <a:rPr sz="1400" b="0" i="0" u="none" dirty="0" err="1">
                <a:solidFill>
                  <a:srgbClr val="CBD5E1"/>
                </a:solidFill>
                <a:latin typeface="Plus Jakarta Sans"/>
              </a:rPr>
              <a:t>loket</a:t>
            </a:r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3174" y="4071937"/>
            <a:ext cx="199702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 err="1">
                <a:solidFill>
                  <a:srgbClr val="FFFFFF"/>
                </a:solidFill>
                <a:latin typeface="Plus Jakarta Sans"/>
              </a:rPr>
              <a:t>Penumpukan</a:t>
            </a:r>
            <a:r>
              <a:rPr sz="16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1600" b="1" i="0" u="none" dirty="0" err="1">
                <a:solidFill>
                  <a:srgbClr val="FFFFFF"/>
                </a:solidFill>
                <a:latin typeface="Plus Jakarta Sans"/>
              </a:rPr>
              <a:t>Dokumen</a:t>
            </a:r>
            <a:endParaRPr sz="16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83174" y="4424362"/>
            <a:ext cx="292104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400" b="0" i="0" u="none">
                <a:solidFill>
                  <a:srgbClr val="CBD5E1"/>
                </a:solidFill>
                <a:latin typeface="Plus Jakarta Sans"/>
              </a:rPr>
              <a:t>Arsip formulir manual menghabiskan ruang dan sulit dicari.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8124" y="4037581"/>
            <a:ext cx="192905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FFFFFF"/>
                </a:solidFill>
                <a:latin typeface="Plus Jakarta Sans"/>
              </a:rPr>
              <a:t>Risiko </a:t>
            </a:r>
            <a:r>
              <a:rPr sz="1600" b="1" i="0" u="none" dirty="0" err="1">
                <a:solidFill>
                  <a:srgbClr val="FFFFFF"/>
                </a:solidFill>
                <a:latin typeface="Plus Jakarta Sans"/>
              </a:rPr>
              <a:t>Kehilangan</a:t>
            </a:r>
            <a:r>
              <a:rPr sz="1600" b="1" i="0" u="none" dirty="0">
                <a:solidFill>
                  <a:srgbClr val="FFFFFF"/>
                </a:solidFill>
                <a:latin typeface="Plus Jakarta Sans"/>
              </a:rPr>
              <a:t>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8124" y="4346462"/>
            <a:ext cx="2921049" cy="473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400" b="0" i="0" u="none" dirty="0" err="1">
                <a:solidFill>
                  <a:srgbClr val="CBD5E1"/>
                </a:solidFill>
                <a:latin typeface="Plus Jakarta Sans"/>
              </a:rPr>
              <a:t>Kerusakan</a:t>
            </a:r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Plus Jakarta Sans"/>
              </a:rPr>
              <a:t>fisik</a:t>
            </a:r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Plus Jakarta Sans"/>
              </a:rPr>
              <a:t>dokumen</a:t>
            </a:r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Plus Jakarta Sans"/>
              </a:rPr>
              <a:t>mengancam</a:t>
            </a:r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Plus Jakarta Sans"/>
              </a:rPr>
              <a:t>keberlanjutan</a:t>
            </a:r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Plus Jakarta Sans"/>
              </a:rPr>
              <a:t>rekam</a:t>
            </a:r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CBD5E1"/>
                </a:solidFill>
                <a:latin typeface="Plus Jakarta Sans"/>
              </a:rPr>
              <a:t>medis</a:t>
            </a:r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533400"/>
            <a:ext cx="1195387" cy="238125"/>
          </a:xfrm>
          <a:prstGeom prst="roundRect">
            <a:avLst>
              <a:gd name="adj" fmla="val 24000"/>
            </a:avLst>
          </a:prstGeom>
          <a:solidFill>
            <a:srgbClr val="102555"/>
          </a:solidFill>
          <a:ln w="9525">
            <a:solidFill>
              <a:srgbClr val="2541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Rounded Rectangle 3"/>
          <p:cNvSpPr/>
          <p:nvPr/>
        </p:nvSpPr>
        <p:spPr>
          <a:xfrm>
            <a:off x="6276975" y="2071687"/>
            <a:ext cx="5153025" cy="1104900"/>
          </a:xfrm>
          <a:prstGeom prst="roundRect">
            <a:avLst>
              <a:gd name="adj" fmla="val 1206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Rounded Rectangle 4"/>
          <p:cNvSpPr/>
          <p:nvPr/>
        </p:nvSpPr>
        <p:spPr>
          <a:xfrm>
            <a:off x="6276975" y="3328987"/>
            <a:ext cx="5153025" cy="1104900"/>
          </a:xfrm>
          <a:prstGeom prst="roundRect">
            <a:avLst>
              <a:gd name="adj" fmla="val 1206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6276975" y="4586287"/>
            <a:ext cx="5153025" cy="1104900"/>
          </a:xfrm>
          <a:prstGeom prst="roundRect">
            <a:avLst>
              <a:gd name="adj" fmla="val 1206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Rectangle 6"/>
          <p:cNvSpPr/>
          <p:nvPr/>
        </p:nvSpPr>
        <p:spPr>
          <a:xfrm>
            <a:off x="6276975" y="3167062"/>
            <a:ext cx="51530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Rectangle 7"/>
          <p:cNvSpPr/>
          <p:nvPr/>
        </p:nvSpPr>
        <p:spPr>
          <a:xfrm>
            <a:off x="6276975" y="2071687"/>
            <a:ext cx="51530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Rectangle 8"/>
          <p:cNvSpPr/>
          <p:nvPr/>
        </p:nvSpPr>
        <p:spPr>
          <a:xfrm>
            <a:off x="6276975" y="2071687"/>
            <a:ext cx="47625" cy="1104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Rectangle 9"/>
          <p:cNvSpPr/>
          <p:nvPr/>
        </p:nvSpPr>
        <p:spPr>
          <a:xfrm>
            <a:off x="11420475" y="2071687"/>
            <a:ext cx="9525" cy="1104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ectangle 10"/>
          <p:cNvSpPr/>
          <p:nvPr/>
        </p:nvSpPr>
        <p:spPr>
          <a:xfrm>
            <a:off x="6276975" y="4424362"/>
            <a:ext cx="51530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Rectangle 11"/>
          <p:cNvSpPr/>
          <p:nvPr/>
        </p:nvSpPr>
        <p:spPr>
          <a:xfrm>
            <a:off x="6276975" y="3328987"/>
            <a:ext cx="51530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Rectangle 12"/>
          <p:cNvSpPr/>
          <p:nvPr/>
        </p:nvSpPr>
        <p:spPr>
          <a:xfrm>
            <a:off x="6276975" y="3328987"/>
            <a:ext cx="47625" cy="1104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Rectangle 13"/>
          <p:cNvSpPr/>
          <p:nvPr/>
        </p:nvSpPr>
        <p:spPr>
          <a:xfrm>
            <a:off x="11420475" y="3328987"/>
            <a:ext cx="9525" cy="1104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Rectangle 14"/>
          <p:cNvSpPr/>
          <p:nvPr/>
        </p:nvSpPr>
        <p:spPr>
          <a:xfrm>
            <a:off x="6276975" y="5681662"/>
            <a:ext cx="51530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Rectangle 15"/>
          <p:cNvSpPr/>
          <p:nvPr/>
        </p:nvSpPr>
        <p:spPr>
          <a:xfrm>
            <a:off x="6276975" y="4586287"/>
            <a:ext cx="51530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Rectangle 16"/>
          <p:cNvSpPr/>
          <p:nvPr/>
        </p:nvSpPr>
        <p:spPr>
          <a:xfrm>
            <a:off x="6276975" y="4586287"/>
            <a:ext cx="47625" cy="1104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Rectangle 17"/>
          <p:cNvSpPr/>
          <p:nvPr/>
        </p:nvSpPr>
        <p:spPr>
          <a:xfrm>
            <a:off x="11420475" y="4586287"/>
            <a:ext cx="9525" cy="1104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71687"/>
            <a:ext cx="5172075" cy="3619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081212"/>
            <a:ext cx="5153025" cy="3600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2328862"/>
            <a:ext cx="1143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3586162"/>
            <a:ext cx="1714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4843462"/>
            <a:ext cx="15240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6300" y="571500"/>
            <a:ext cx="106203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0A5FA"/>
                </a:solidFill>
                <a:latin typeface="Plus Jakarta Sans"/>
              </a:rPr>
              <a:t>NILAI OTOMASI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790575"/>
            <a:ext cx="4373890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FFFFFF"/>
                </a:solidFill>
                <a:latin typeface="Plus Jakarta Sans"/>
              </a:rPr>
              <a:t>Mengapa</a:t>
            </a:r>
            <a:r>
              <a:rPr sz="3000" b="1" i="0" u="none" dirty="0">
                <a:solidFill>
                  <a:srgbClr val="FFFFFF"/>
                </a:solidFill>
                <a:latin typeface="Plus Jakarta Sans"/>
              </a:rPr>
              <a:t> Layak </a:t>
            </a:r>
            <a:r>
              <a:rPr sz="3000" b="1" i="0" u="none" dirty="0" err="1">
                <a:solidFill>
                  <a:srgbClr val="FFFFFF"/>
                </a:solidFill>
                <a:latin typeface="Plus Jakarta Sans"/>
              </a:rPr>
              <a:t>Diotomasi</a:t>
            </a:r>
            <a:r>
              <a:rPr sz="3000" b="1" i="0" u="none" dirty="0">
                <a:solidFill>
                  <a:srgbClr val="FFFFFF"/>
                </a:solidFill>
                <a:latin typeface="Plus Jakarta Sans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200" y="2557462"/>
            <a:ext cx="47339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Data Google Forms </a:t>
            </a:r>
            <a:r>
              <a:rPr sz="1600" b="0" i="0" u="none" dirty="0" err="1">
                <a:solidFill>
                  <a:srgbClr val="CBD5E1"/>
                </a:solidFill>
                <a:latin typeface="Plus Jakarta Sans"/>
              </a:rPr>
              <a:t>langsung</a:t>
            </a: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600" b="0" i="0" u="none" dirty="0" err="1">
                <a:solidFill>
                  <a:srgbClr val="CBD5E1"/>
                </a:solidFill>
                <a:latin typeface="Plus Jakarta Sans"/>
              </a:rPr>
              <a:t>terfasilitasi</a:t>
            </a: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600" b="0" i="0" u="none" dirty="0" err="1">
                <a:solidFill>
                  <a:srgbClr val="CBD5E1"/>
                </a:solidFill>
                <a:latin typeface="Plus Jakarta Sans"/>
              </a:rPr>
              <a:t>otomatis</a:t>
            </a: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600" b="0" i="0" u="none" dirty="0" err="1">
                <a:solidFill>
                  <a:srgbClr val="CBD5E1"/>
                </a:solidFill>
                <a:latin typeface="Plus Jakarta Sans"/>
              </a:rPr>
              <a:t>ke</a:t>
            </a: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 Spreadsheet.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200" y="3814762"/>
            <a:ext cx="47339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CBD5E1"/>
                </a:solidFill>
                <a:latin typeface="Plus Jakarta Sans"/>
              </a:rPr>
              <a:t>Gemini AI mengkategorikan keluhan dan menentukan tingkat urgensi.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200" y="5072062"/>
            <a:ext cx="473392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CBD5E1"/>
                </a:solidFill>
                <a:latin typeface="Plus Jakarta Sans"/>
              </a:rPr>
              <a:t>Pesan antrean dan ringkasan medis terkirim secara tepat sasaran.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2750" y="2290762"/>
            <a:ext cx="181524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 err="1">
                <a:solidFill>
                  <a:srgbClr val="FFFFFF"/>
                </a:solidFill>
                <a:latin typeface="Plus Jakarta Sans"/>
              </a:rPr>
              <a:t>Pencatatan</a:t>
            </a:r>
            <a:r>
              <a:rPr sz="1600" b="1" i="0" u="none" dirty="0">
                <a:solidFill>
                  <a:srgbClr val="FFFFFF"/>
                </a:solidFill>
                <a:latin typeface="Plus Jakarta Sans"/>
              </a:rPr>
              <a:t> Real-time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9900" y="3548062"/>
            <a:ext cx="144642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Plus Jakarta Sans"/>
              </a:rPr>
              <a:t>Analisis AI Instan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0850" y="4805362"/>
            <a:ext cx="246080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Plus Jakarta Sans"/>
              </a:rPr>
              <a:t>Notifikasi Telegram Otomatis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533400"/>
            <a:ext cx="1719262" cy="238125"/>
          </a:xfrm>
          <a:prstGeom prst="roundRect">
            <a:avLst>
              <a:gd name="adj" fmla="val 24000"/>
            </a:avLst>
          </a:prstGeom>
          <a:solidFill>
            <a:srgbClr val="1B204B"/>
          </a:solidFill>
          <a:ln w="9525">
            <a:solidFill>
              <a:srgbClr val="2D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" name="Rounded Rectangle 3"/>
          <p:cNvSpPr/>
          <p:nvPr/>
        </p:nvSpPr>
        <p:spPr>
          <a:xfrm>
            <a:off x="762000" y="2743200"/>
            <a:ext cx="2524125" cy="2314575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9525">
            <a:solidFill>
              <a:srgbClr val="512D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76625" y="2743200"/>
            <a:ext cx="2524125" cy="2314575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9525">
            <a:solidFill>
              <a:srgbClr val="114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2743200"/>
            <a:ext cx="2524125" cy="2314575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9525">
            <a:solidFill>
              <a:srgbClr val="3924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05875" y="2743200"/>
            <a:ext cx="2524125" cy="2314575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9525">
            <a:solidFill>
              <a:srgbClr val="1743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454943" y="3038475"/>
            <a:ext cx="1138237" cy="200025"/>
          </a:xfrm>
          <a:prstGeom prst="roundRect">
            <a:avLst>
              <a:gd name="adj" fmla="val 50000"/>
            </a:avLst>
          </a:prstGeom>
          <a:solidFill>
            <a:srgbClr val="3F3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" name="Rounded Rectangle 8"/>
          <p:cNvSpPr/>
          <p:nvPr/>
        </p:nvSpPr>
        <p:spPr>
          <a:xfrm>
            <a:off x="4352925" y="3038475"/>
            <a:ext cx="771525" cy="200025"/>
          </a:xfrm>
          <a:prstGeom prst="roundRect">
            <a:avLst>
              <a:gd name="adj" fmla="val 50000"/>
            </a:avLst>
          </a:prstGeom>
          <a:solidFill>
            <a:srgbClr val="1F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0" name="Rounded Rectangle 9"/>
          <p:cNvSpPr/>
          <p:nvPr/>
        </p:nvSpPr>
        <p:spPr>
          <a:xfrm>
            <a:off x="7084218" y="3038475"/>
            <a:ext cx="738187" cy="200025"/>
          </a:xfrm>
          <a:prstGeom prst="roundRect">
            <a:avLst>
              <a:gd name="adj" fmla="val 50000"/>
            </a:avLst>
          </a:prstGeom>
          <a:solidFill>
            <a:srgbClr val="33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1" name="Rounded Rectangle 10"/>
          <p:cNvSpPr/>
          <p:nvPr/>
        </p:nvSpPr>
        <p:spPr>
          <a:xfrm>
            <a:off x="9753600" y="3038475"/>
            <a:ext cx="828675" cy="200025"/>
          </a:xfrm>
          <a:prstGeom prst="roundRect">
            <a:avLst>
              <a:gd name="adj" fmla="val 50000"/>
            </a:avLst>
          </a:prstGeom>
          <a:solidFill>
            <a:srgbClr val="223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837" y="3371850"/>
            <a:ext cx="552450" cy="552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462" y="3371850"/>
            <a:ext cx="552450" cy="552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7087" y="3371850"/>
            <a:ext cx="552450" cy="552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1712" y="3371850"/>
            <a:ext cx="552450" cy="552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5950" y="3524250"/>
            <a:ext cx="27622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4862" y="3524250"/>
            <a:ext cx="24765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3524250"/>
            <a:ext cx="2762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8875" y="3524250"/>
            <a:ext cx="238125" cy="247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6300" y="571500"/>
            <a:ext cx="15859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818CF8"/>
                </a:solidFill>
                <a:latin typeface="Plus Jakarta Sans"/>
              </a:rPr>
              <a:t>EKOSISTEM TEKNOLOGI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889" y="959792"/>
            <a:ext cx="649357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FFFFFF"/>
                </a:solidFill>
                <a:latin typeface="Plus Jakarta Sans"/>
              </a:rPr>
              <a:t>Komponen</a:t>
            </a:r>
            <a:r>
              <a:rPr sz="30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3000" b="1" i="0" u="none" dirty="0" err="1">
                <a:solidFill>
                  <a:srgbClr val="FFFFFF"/>
                </a:solidFill>
                <a:latin typeface="Plus Jakarta Sans"/>
              </a:rPr>
              <a:t>Teknologi</a:t>
            </a:r>
            <a:r>
              <a:rPr sz="3000" b="1" i="0" u="none" dirty="0">
                <a:solidFill>
                  <a:srgbClr val="FFFFFF"/>
                </a:solidFill>
                <a:latin typeface="Plus Jakarta Sans"/>
              </a:rPr>
              <a:t> Utama (Tech Stack)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7318" y="3076575"/>
            <a:ext cx="123348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u="none" dirty="0">
                <a:solidFill>
                  <a:srgbClr val="FB923C"/>
                </a:solidFill>
                <a:latin typeface="Plus Jakarta Sans"/>
              </a:rPr>
              <a:t>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9121" y="4076700"/>
            <a:ext cx="120988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rgbClr val="FFFFFF"/>
                </a:solidFill>
                <a:latin typeface="Plus Jakarta Sans"/>
              </a:rPr>
              <a:t>n8n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515" y="4381500"/>
            <a:ext cx="26550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300" b="0" i="0" u="none" dirty="0">
                <a:solidFill>
                  <a:srgbClr val="94A3B8"/>
                </a:solidFill>
                <a:latin typeface="Plus Jakarta Sans"/>
              </a:rPr>
              <a:t>Engine </a:t>
            </a:r>
            <a:r>
              <a:rPr sz="1300" b="0" i="0" u="none" dirty="0" err="1">
                <a:solidFill>
                  <a:srgbClr val="94A3B8"/>
                </a:solidFill>
                <a:latin typeface="Plus Jakarta Sans"/>
              </a:rPr>
              <a:t>otomatisasi</a:t>
            </a:r>
            <a:r>
              <a:rPr sz="13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94A3B8"/>
                </a:solidFill>
                <a:latin typeface="Plus Jakarta Sans"/>
              </a:rPr>
              <a:t>alur</a:t>
            </a:r>
            <a:r>
              <a:rPr sz="13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94A3B8"/>
                </a:solidFill>
                <a:latin typeface="Plus Jakarta Sans"/>
              </a:rPr>
              <a:t>kerja</a:t>
            </a:r>
            <a:r>
              <a:rPr sz="13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94A3B8"/>
                </a:solidFill>
                <a:latin typeface="Plus Jakarta Sans"/>
              </a:rPr>
              <a:t>tanpa</a:t>
            </a:r>
            <a:r>
              <a:rPr sz="13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94A3B8"/>
                </a:solidFill>
                <a:latin typeface="Plus Jakarta Sans"/>
              </a:rPr>
              <a:t>kode</a:t>
            </a:r>
            <a:r>
              <a:rPr sz="1300" b="0" i="0" u="none" dirty="0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5300" y="3076575"/>
            <a:ext cx="86677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u="none">
                <a:solidFill>
                  <a:srgbClr val="4ADE80"/>
                </a:solidFill>
                <a:latin typeface="Plus Jakarta Sans"/>
              </a:rP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1854" y="4076700"/>
            <a:ext cx="121366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Plus Jakarta Sans"/>
              </a:rPr>
              <a:t>Google Sheets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1140" y="4381500"/>
            <a:ext cx="26550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300" b="0" i="0" u="none">
                <a:solidFill>
                  <a:srgbClr val="94A3B8"/>
                </a:solidFill>
                <a:latin typeface="Plus Jakarta Sans"/>
              </a:rPr>
              <a:t>Database pendaftaran dan trigger otomatis.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6593" y="3076575"/>
            <a:ext cx="8334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u="none">
                <a:solidFill>
                  <a:srgbClr val="C084FC"/>
                </a:solidFill>
                <a:latin typeface="Plus Jakarta Sans"/>
              </a:rPr>
              <a:t>AI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51196" y="4076700"/>
            <a:ext cx="14042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Plus Jakarta Sans"/>
              </a:rPr>
              <a:t>Gemini 1.5 Flash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5765" y="4381500"/>
            <a:ext cx="26550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lang="en-US" sz="13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00" b="0" i="0" u="none" dirty="0">
                <a:solidFill>
                  <a:srgbClr val="94A3B8"/>
                </a:solidFill>
                <a:latin typeface="Plus Jakarta Sans"/>
              </a:rPr>
              <a:t>Model AI </a:t>
            </a:r>
            <a:r>
              <a:rPr sz="1300" b="0" i="0" u="none" dirty="0" err="1">
                <a:solidFill>
                  <a:srgbClr val="94A3B8"/>
                </a:solidFill>
                <a:latin typeface="Plus Jakarta Sans"/>
              </a:rPr>
              <a:t>untuk</a:t>
            </a:r>
            <a:r>
              <a:rPr sz="13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94A3B8"/>
                </a:solidFill>
                <a:latin typeface="Plus Jakarta Sans"/>
              </a:rPr>
              <a:t>ekstraksi</a:t>
            </a:r>
            <a:r>
              <a:rPr sz="1300" b="0" i="0" u="none" dirty="0">
                <a:solidFill>
                  <a:srgbClr val="94A3B8"/>
                </a:solidFill>
                <a:latin typeface="Plus Jakarta Sans"/>
              </a:rPr>
              <a:t> dan </a:t>
            </a:r>
            <a:endParaRPr lang="en-US" sz="1300" b="0" i="0" u="none" dirty="0">
              <a:solidFill>
                <a:srgbClr val="94A3B8"/>
              </a:solidFill>
              <a:latin typeface="Plus Jakarta Sans"/>
            </a:endParaRPr>
          </a:p>
          <a:p>
            <a:pPr algn="ctr">
              <a:lnSpc>
                <a:spcPts val="1575"/>
              </a:lnSpc>
            </a:pPr>
            <a:r>
              <a:rPr sz="1300" b="0" i="0" u="none" dirty="0" err="1">
                <a:solidFill>
                  <a:srgbClr val="94A3B8"/>
                </a:solidFill>
                <a:latin typeface="Plus Jakarta Sans"/>
              </a:rPr>
              <a:t>analisis</a:t>
            </a:r>
            <a:r>
              <a:rPr sz="13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94A3B8"/>
                </a:solidFill>
                <a:latin typeface="Plus Jakarta Sans"/>
              </a:rPr>
              <a:t>medis</a:t>
            </a:r>
            <a:r>
              <a:rPr sz="1300" b="0" i="0" u="none" dirty="0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5975" y="3076575"/>
            <a:ext cx="92392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u="none">
                <a:solidFill>
                  <a:srgbClr val="38BDF8"/>
                </a:solidFill>
                <a:latin typeface="Plus Jakarta Sans"/>
              </a:rPr>
              <a:t>NOTIFIKASI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4003" y="4076700"/>
            <a:ext cx="110786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Plus Jakarta Sans"/>
              </a:rPr>
              <a:t>Telegram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0390" y="4381500"/>
            <a:ext cx="26550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300" b="0" i="0" u="none">
                <a:solidFill>
                  <a:srgbClr val="94A3B8"/>
                </a:solidFill>
                <a:latin typeface="Plus Jakarta Sans"/>
              </a:rPr>
              <a:t>Saluran notifikasi untuk dokter dan pasien.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33400"/>
            <a:ext cx="1471612" cy="238125"/>
          </a:xfrm>
          <a:prstGeom prst="roundRect">
            <a:avLst>
              <a:gd name="adj" fmla="val 24000"/>
            </a:avLst>
          </a:prstGeom>
          <a:solidFill>
            <a:srgbClr val="132651"/>
          </a:solidFill>
          <a:ln w="9525">
            <a:solidFill>
              <a:srgbClr val="27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Rounded Rectangle 2"/>
          <p:cNvSpPr/>
          <p:nvPr/>
        </p:nvSpPr>
        <p:spPr>
          <a:xfrm>
            <a:off x="762000" y="4181475"/>
            <a:ext cx="10668000" cy="762000"/>
          </a:xfrm>
          <a:prstGeom prst="roundRect">
            <a:avLst>
              <a:gd name="adj" fmla="val 17500"/>
            </a:avLst>
          </a:prstGeom>
          <a:solidFill>
            <a:srgbClr val="192042"/>
          </a:solidFill>
          <a:ln w="9525">
            <a:solidFill>
              <a:srgbClr val="31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2857500"/>
            <a:ext cx="2097285" cy="1095375"/>
          </a:xfrm>
          <a:prstGeom prst="roundRect">
            <a:avLst>
              <a:gd name="adj" fmla="val 12173"/>
            </a:avLst>
          </a:prstGeom>
          <a:solidFill>
            <a:srgbClr val="1E293B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392685" y="2857500"/>
            <a:ext cx="2436614" cy="1095375"/>
          </a:xfrm>
          <a:prstGeom prst="roundRect">
            <a:avLst>
              <a:gd name="adj" fmla="val 12173"/>
            </a:avLst>
          </a:prstGeom>
          <a:solidFill>
            <a:srgbClr val="1E293B"/>
          </a:solidFill>
          <a:ln w="9525">
            <a:solidFill>
              <a:srgbClr val="3D2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62700" y="2857500"/>
            <a:ext cx="2436614" cy="1095375"/>
          </a:xfrm>
          <a:prstGeom prst="roundRect">
            <a:avLst>
              <a:gd name="adj" fmla="val 12173"/>
            </a:avLst>
          </a:prstGeom>
          <a:solidFill>
            <a:srgbClr val="1E293B"/>
          </a:solidFill>
          <a:ln w="9525">
            <a:solidFill>
              <a:srgbClr val="154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32714" y="2857500"/>
            <a:ext cx="2097285" cy="1095375"/>
          </a:xfrm>
          <a:prstGeom prst="roundRect">
            <a:avLst>
              <a:gd name="adj" fmla="val 12173"/>
            </a:avLst>
          </a:prstGeom>
          <a:solidFill>
            <a:srgbClr val="1E293B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420117" y="3086100"/>
            <a:ext cx="781050" cy="180975"/>
          </a:xfrm>
          <a:prstGeom prst="roundRect">
            <a:avLst>
              <a:gd name="adj" fmla="val 50000"/>
            </a:avLst>
          </a:prstGeom>
          <a:solidFill>
            <a:srgbClr val="353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" name="Rounded Rectangle 8"/>
          <p:cNvSpPr/>
          <p:nvPr/>
        </p:nvSpPr>
        <p:spPr>
          <a:xfrm>
            <a:off x="4210942" y="3086100"/>
            <a:ext cx="800100" cy="180975"/>
          </a:xfrm>
          <a:prstGeom prst="roundRect">
            <a:avLst>
              <a:gd name="adj" fmla="val 50000"/>
            </a:avLst>
          </a:prstGeom>
          <a:solidFill>
            <a:srgbClr val="3A3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0" name="Rounded Rectangle 9"/>
          <p:cNvSpPr/>
          <p:nvPr/>
        </p:nvSpPr>
        <p:spPr>
          <a:xfrm>
            <a:off x="7180957" y="3086100"/>
            <a:ext cx="800100" cy="180975"/>
          </a:xfrm>
          <a:prstGeom prst="roundRect">
            <a:avLst>
              <a:gd name="adj" fmla="val 50000"/>
            </a:avLst>
          </a:prstGeom>
          <a:solidFill>
            <a:srgbClr val="1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1" name="Rounded Rectangle 10"/>
          <p:cNvSpPr/>
          <p:nvPr/>
        </p:nvSpPr>
        <p:spPr>
          <a:xfrm>
            <a:off x="9981307" y="3086100"/>
            <a:ext cx="800100" cy="180975"/>
          </a:xfrm>
          <a:prstGeom prst="roundRect">
            <a:avLst>
              <a:gd name="adj" fmla="val 50000"/>
            </a:avLst>
          </a:prstGeom>
          <a:solidFill>
            <a:srgbClr val="23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635" y="3271837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3271837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2664" y="3271837"/>
            <a:ext cx="266700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885" y="3348037"/>
            <a:ext cx="76200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0" y="3348037"/>
            <a:ext cx="76200" cy="114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7914" y="3348037"/>
            <a:ext cx="76200" cy="1143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225" y="4381500"/>
            <a:ext cx="361950" cy="3619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3950" y="4476750"/>
            <a:ext cx="19050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6300" y="571500"/>
            <a:ext cx="133826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0A5FA"/>
                </a:solidFill>
                <a:latin typeface="Plus Jakarta Sans"/>
              </a:rPr>
              <a:t>ARSITEKTUR SISTEM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984766"/>
            <a:ext cx="6967420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Plus Jakarta Sans"/>
              </a:rPr>
              <a:t>Alur Kerja Otomasi (Workflow Architecture)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6324" y="4461103"/>
            <a:ext cx="623600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 dirty="0" err="1">
                <a:solidFill>
                  <a:srgbClr val="C7D2FE"/>
                </a:solidFill>
                <a:latin typeface="Plus Jakarta Sans"/>
              </a:rPr>
              <a:t>Menjaga</a:t>
            </a:r>
            <a:r>
              <a:rPr sz="1400" b="0" i="0" u="none" dirty="0">
                <a:solidFill>
                  <a:srgbClr val="C7D2FE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C7D2FE"/>
                </a:solidFill>
                <a:latin typeface="Plus Jakarta Sans"/>
              </a:rPr>
              <a:t>kontinuitas</a:t>
            </a:r>
            <a:r>
              <a:rPr sz="1400" b="0" i="0" u="none" dirty="0">
                <a:solidFill>
                  <a:srgbClr val="C7D2FE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C7D2FE"/>
                </a:solidFill>
                <a:latin typeface="Plus Jakarta Sans"/>
              </a:rPr>
              <a:t>penomoran</a:t>
            </a:r>
            <a:r>
              <a:rPr sz="1400" b="0" i="0" u="none" dirty="0">
                <a:solidFill>
                  <a:srgbClr val="C7D2FE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C7D2FE"/>
                </a:solidFill>
                <a:latin typeface="Plus Jakarta Sans"/>
              </a:rPr>
              <a:t>urut</a:t>
            </a:r>
            <a:r>
              <a:rPr sz="1400" b="0" i="0" u="none" dirty="0">
                <a:solidFill>
                  <a:srgbClr val="C7D2FE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C7D2FE"/>
                </a:solidFill>
                <a:latin typeface="Plus Jakarta Sans"/>
              </a:rPr>
              <a:t>antrean</a:t>
            </a:r>
            <a:r>
              <a:rPr sz="1400" b="0" i="0" u="none" dirty="0">
                <a:solidFill>
                  <a:srgbClr val="C7D2FE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C7D2FE"/>
                </a:solidFill>
                <a:latin typeface="Plus Jakarta Sans"/>
              </a:rPr>
              <a:t>pasien</a:t>
            </a:r>
            <a:r>
              <a:rPr sz="1400" b="0" i="0" u="none" dirty="0">
                <a:solidFill>
                  <a:srgbClr val="C7D2FE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C7D2FE"/>
                </a:solidFill>
                <a:latin typeface="Plus Jakarta Sans"/>
              </a:rPr>
              <a:t>secara</a:t>
            </a:r>
            <a:r>
              <a:rPr sz="1400" b="0" i="0" u="none" dirty="0">
                <a:solidFill>
                  <a:srgbClr val="C7D2FE"/>
                </a:solidFill>
                <a:latin typeface="Plus Jakarta Sans"/>
              </a:rPr>
              <a:t> </a:t>
            </a:r>
            <a:r>
              <a:rPr sz="1400" b="0" i="0" u="none" dirty="0" err="1">
                <a:solidFill>
                  <a:srgbClr val="C7D2FE"/>
                </a:solidFill>
                <a:latin typeface="Plus Jakarta Sans"/>
              </a:rPr>
              <a:t>berurutan</a:t>
            </a:r>
            <a:r>
              <a:rPr sz="1400" b="0" i="0" u="none" dirty="0">
                <a:solidFill>
                  <a:srgbClr val="C7D2FE"/>
                </a:solidFill>
                <a:latin typeface="Plus Jakarta Sans"/>
              </a:rPr>
              <a:t> dan </a:t>
            </a:r>
            <a:r>
              <a:rPr sz="1400" b="0" i="0" u="none" dirty="0" err="1">
                <a:solidFill>
                  <a:srgbClr val="C7D2FE"/>
                </a:solidFill>
                <a:latin typeface="Plus Jakarta Sans"/>
              </a:rPr>
              <a:t>konsisten</a:t>
            </a:r>
            <a:r>
              <a:rPr sz="1400" b="0" i="0" u="none" dirty="0">
                <a:solidFill>
                  <a:srgbClr val="C7D2FE"/>
                </a:solidFill>
                <a:latin typeface="Plus Jakarta Sans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2492" y="3114675"/>
            <a:ext cx="8763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u="none" dirty="0">
                <a:solidFill>
                  <a:srgbClr val="CBD5E1"/>
                </a:solidFill>
                <a:latin typeface="Plus Jakarta Sans"/>
              </a:rPr>
              <a:t>LANGKAH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383" y="3333750"/>
            <a:ext cx="95051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 u="none" dirty="0">
                <a:solidFill>
                  <a:srgbClr val="FFFFFF"/>
                </a:solidFill>
                <a:latin typeface="Plus Jakarta Sans"/>
              </a:rPr>
              <a:t>Trigger 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5505" y="3635830"/>
            <a:ext cx="123027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94A3B8"/>
                </a:solidFill>
                <a:latin typeface="Plus Jakarta Sans"/>
              </a:rPr>
              <a:t>Baris </a:t>
            </a:r>
            <a:r>
              <a:rPr sz="1200" b="0" i="0" u="none" dirty="0" err="1">
                <a:solidFill>
                  <a:srgbClr val="94A3B8"/>
                </a:solidFill>
                <a:latin typeface="Plus Jakarta Sans"/>
              </a:rPr>
              <a:t>baru</a:t>
            </a:r>
            <a:r>
              <a:rPr sz="1200" b="0" i="0" u="none" dirty="0">
                <a:solidFill>
                  <a:srgbClr val="94A3B8"/>
                </a:solidFill>
                <a:latin typeface="Plus Jakarta Sans"/>
              </a:rPr>
              <a:t> di Sheets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3317" y="3114675"/>
            <a:ext cx="8953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u="none">
                <a:solidFill>
                  <a:srgbClr val="C084FC"/>
                </a:solidFill>
                <a:latin typeface="Plus Jakarta Sans"/>
              </a:rPr>
              <a:t>LANGKAH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20231" y="3333750"/>
            <a:ext cx="158152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Plus Jakarta Sans"/>
              </a:rPr>
              <a:t>Pemrosesan AI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08337" y="3635830"/>
            <a:ext cx="160531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084FC"/>
                </a:solidFill>
                <a:latin typeface="Plus Jakarta Sans"/>
              </a:rPr>
              <a:t>Gemini memproses triase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3332" y="3114675"/>
            <a:ext cx="8953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u="none">
                <a:solidFill>
                  <a:srgbClr val="4ADE80"/>
                </a:solidFill>
                <a:latin typeface="Plus Jakarta Sans"/>
              </a:rPr>
              <a:t>LANGKAH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3874" y="3333750"/>
            <a:ext cx="129426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Plus Jakarta Sans"/>
              </a:rPr>
              <a:t>Pemisahan Pesan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3934" y="3635830"/>
            <a:ext cx="179414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ADE80"/>
                </a:solidFill>
                <a:latin typeface="Plus Jakarta Sans"/>
              </a:rPr>
              <a:t>Memecah ===PEMBATAS===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3682" y="3114675"/>
            <a:ext cx="89535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u="none">
                <a:solidFill>
                  <a:srgbClr val="38BDF8"/>
                </a:solidFill>
                <a:latin typeface="Plus Jakarta Sans"/>
              </a:rPr>
              <a:t>LANGKAH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6166" y="3333750"/>
            <a:ext cx="115037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Plus Jakarta Sans"/>
              </a:rPr>
              <a:t>Kirim Notifikasi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3460" y="3635830"/>
            <a:ext cx="125579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8BDF8"/>
                </a:solidFill>
                <a:latin typeface="Plus Jakarta Sans"/>
              </a:rPr>
              <a:t>Bot Dokter &amp; Pasien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14475" y="4462462"/>
            <a:ext cx="223984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E0E7FF"/>
                </a:solidFill>
                <a:latin typeface="Plus Jakarta Sans"/>
              </a:rPr>
              <a:t>Simple </a:t>
            </a:r>
            <a:r>
              <a:rPr sz="1400" b="1" i="0" u="none" dirty="0">
                <a:solidFill>
                  <a:srgbClr val="E0E7FF"/>
                </a:solidFill>
                <a:latin typeface="Plus Jakarta Sans"/>
              </a:rPr>
              <a:t>Memory</a:t>
            </a:r>
            <a:r>
              <a:rPr sz="1200" b="1" i="0" u="none" dirty="0">
                <a:solidFill>
                  <a:srgbClr val="E0E7FF"/>
                </a:solidFill>
                <a:latin typeface="Plus Jakarta Sans"/>
              </a:rPr>
              <a:t> Window Session: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0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533400"/>
            <a:ext cx="1347787" cy="238125"/>
          </a:xfrm>
          <a:prstGeom prst="roundRect">
            <a:avLst>
              <a:gd name="adj" fmla="val 24000"/>
            </a:avLst>
          </a:prstGeom>
          <a:solidFill>
            <a:srgbClr val="3A1422"/>
          </a:solidFill>
          <a:ln w="9525">
            <a:solidFill>
              <a:srgbClr val="562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2905125"/>
            <a:ext cx="3403550" cy="1990725"/>
          </a:xfrm>
          <a:prstGeom prst="roundRect">
            <a:avLst>
              <a:gd name="adj" fmla="val 8612"/>
            </a:avLst>
          </a:prstGeom>
          <a:solidFill>
            <a:srgbClr val="1E293B"/>
          </a:solidFill>
          <a:ln w="9525">
            <a:solidFill>
              <a:srgbClr val="6A2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94150" y="2905125"/>
            <a:ext cx="3403550" cy="1990725"/>
          </a:xfrm>
          <a:prstGeom prst="roundRect">
            <a:avLst>
              <a:gd name="adj" fmla="val 8612"/>
            </a:avLst>
          </a:prstGeom>
          <a:solidFill>
            <a:srgbClr val="1E293B"/>
          </a:solidFill>
          <a:ln w="9525">
            <a:solidFill>
              <a:srgbClr val="6C49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26300" y="2905125"/>
            <a:ext cx="3403550" cy="1990725"/>
          </a:xfrm>
          <a:prstGeom prst="roundRect">
            <a:avLst>
              <a:gd name="adj" fmla="val 8612"/>
            </a:avLst>
          </a:prstGeom>
          <a:solidFill>
            <a:srgbClr val="1E293B"/>
          </a:solidFill>
          <a:ln w="9525">
            <a:solidFill>
              <a:srgbClr val="1858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0125" y="3219450"/>
            <a:ext cx="2927300" cy="47625"/>
          </a:xfrm>
          <a:prstGeom prst="roundRect">
            <a:avLst>
              <a:gd name="adj" fmla="val 50000"/>
            </a:avLst>
          </a:prstGeom>
          <a:solidFill>
            <a:srgbClr val="E6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632275" y="3219450"/>
            <a:ext cx="2927300" cy="47625"/>
          </a:xfrm>
          <a:prstGeom prst="roundRect">
            <a:avLst>
              <a:gd name="adj" fmla="val 50000"/>
            </a:avLst>
          </a:prstGeom>
          <a:solidFill>
            <a:srgbClr val="E78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64425" y="3219450"/>
            <a:ext cx="2927300" cy="47625"/>
          </a:xfrm>
          <a:prstGeom prst="roundRect">
            <a:avLst>
              <a:gd name="adj" fmla="val 50000"/>
            </a:avLst>
          </a:prstGeom>
          <a:solidFill>
            <a:srgbClr val="1C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98750" y="3486150"/>
            <a:ext cx="828675" cy="180975"/>
          </a:xfrm>
          <a:prstGeom prst="roundRect">
            <a:avLst>
              <a:gd name="adj" fmla="val 31578"/>
            </a:avLst>
          </a:prstGeom>
          <a:solidFill>
            <a:srgbClr val="442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21400" y="3486150"/>
            <a:ext cx="638175" cy="180975"/>
          </a:xfrm>
          <a:prstGeom prst="roundRect">
            <a:avLst>
              <a:gd name="adj" fmla="val 31578"/>
            </a:avLst>
          </a:prstGeom>
          <a:solidFill>
            <a:srgbClr val="433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372576" y="3486150"/>
            <a:ext cx="819150" cy="180975"/>
          </a:xfrm>
          <a:prstGeom prst="roundRect">
            <a:avLst>
              <a:gd name="adj" fmla="val 31578"/>
            </a:avLst>
          </a:prstGeom>
          <a:solidFill>
            <a:srgbClr val="1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3481387"/>
            <a:ext cx="23812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275" y="3481387"/>
            <a:ext cx="23812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4425" y="3481387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6300" y="571500"/>
            <a:ext cx="121443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87171"/>
                </a:solidFill>
                <a:latin typeface="Plus Jakarta Sans"/>
              </a:rPr>
              <a:t>ANALISIS</a:t>
            </a:r>
            <a:r>
              <a:rPr sz="900" b="1" i="0" u="none" dirty="0">
                <a:solidFill>
                  <a:srgbClr val="F87171"/>
                </a:solidFill>
                <a:latin typeface="Plus Jakarta Sans"/>
              </a:rPr>
              <a:t> CERDAS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877662"/>
            <a:ext cx="3899209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FFFFFF"/>
                </a:solidFill>
                <a:latin typeface="Plus Jakarta Sans"/>
              </a:rPr>
              <a:t>Kategori</a:t>
            </a:r>
            <a:r>
              <a:rPr sz="30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3000" b="1" i="0" u="none" dirty="0" err="1">
                <a:solidFill>
                  <a:srgbClr val="FFFFFF"/>
                </a:solidFill>
                <a:latin typeface="Plus Jakarta Sans"/>
              </a:rPr>
              <a:t>Triase</a:t>
            </a:r>
            <a:r>
              <a:rPr sz="3000" b="1" i="0" u="none" dirty="0">
                <a:solidFill>
                  <a:srgbClr val="FFFFFF"/>
                </a:solidFill>
                <a:latin typeface="Plus Jakarta Sans"/>
              </a:rPr>
              <a:t> AI </a:t>
            </a:r>
            <a:r>
              <a:rPr sz="3000" b="1" i="0" u="none" dirty="0" err="1">
                <a:solidFill>
                  <a:srgbClr val="FFFFFF"/>
                </a:solidFill>
                <a:latin typeface="Plus Jakarta Sans"/>
              </a:rPr>
              <a:t>Pasien</a:t>
            </a:r>
            <a:endParaRPr sz="30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0125" y="3848100"/>
            <a:ext cx="1350754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 dirty="0" err="1">
                <a:solidFill>
                  <a:srgbClr val="FFFFFF"/>
                </a:solidFill>
                <a:latin typeface="Plus Jakarta Sans"/>
              </a:rPr>
              <a:t>Gejala</a:t>
            </a:r>
            <a:r>
              <a:rPr sz="1300" b="1" i="0" u="none" dirty="0">
                <a:solidFill>
                  <a:srgbClr val="FFFFFF"/>
                </a:solidFill>
                <a:latin typeface="Plus Jakarta Sans"/>
              </a:rPr>
              <a:t> Berat / </a:t>
            </a:r>
            <a:r>
              <a:rPr sz="1300" b="1" i="0" u="none" dirty="0" err="1">
                <a:solidFill>
                  <a:srgbClr val="FFFFFF"/>
                </a:solidFill>
                <a:latin typeface="Plus Jakarta Sans"/>
              </a:rPr>
              <a:t>Kritis</a:t>
            </a:r>
            <a:endParaRPr sz="13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0125" y="4152900"/>
            <a:ext cx="30225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00" b="0" i="0" u="none" dirty="0" err="1">
                <a:solidFill>
                  <a:srgbClr val="CBD5E1"/>
                </a:solidFill>
                <a:latin typeface="Plus Jakarta Sans"/>
              </a:rPr>
              <a:t>Instruksi</a:t>
            </a:r>
            <a:r>
              <a:rPr sz="13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CBD5E1"/>
                </a:solidFill>
                <a:latin typeface="Plus Jakarta Sans"/>
              </a:rPr>
              <a:t>langsung</a:t>
            </a:r>
            <a:r>
              <a:rPr sz="13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CBD5E1"/>
                </a:solidFill>
                <a:latin typeface="Plus Jakarta Sans"/>
              </a:rPr>
              <a:t>pasien</a:t>
            </a:r>
            <a:r>
              <a:rPr sz="13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CBD5E1"/>
                </a:solidFill>
                <a:latin typeface="Plus Jakarta Sans"/>
              </a:rPr>
              <a:t>menuju</a:t>
            </a:r>
            <a:r>
              <a:rPr sz="1300" b="0" i="0" u="none" dirty="0">
                <a:solidFill>
                  <a:srgbClr val="CBD5E1"/>
                </a:solidFill>
                <a:latin typeface="Plus Jakarta Sans"/>
              </a:rPr>
              <a:t> IGD </a:t>
            </a:r>
            <a:r>
              <a:rPr sz="1300" b="0" i="0" u="none" dirty="0" err="1">
                <a:solidFill>
                  <a:srgbClr val="CBD5E1"/>
                </a:solidFill>
                <a:latin typeface="Plus Jakarta Sans"/>
              </a:rPr>
              <a:t>untuk</a:t>
            </a:r>
            <a:r>
              <a:rPr sz="13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CBD5E1"/>
                </a:solidFill>
                <a:latin typeface="Plus Jakarta Sans"/>
              </a:rPr>
              <a:t>penanganan</a:t>
            </a:r>
            <a:r>
              <a:rPr sz="13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CBD5E1"/>
                </a:solidFill>
                <a:latin typeface="Plus Jakarta Sans"/>
              </a:rPr>
              <a:t>darurat</a:t>
            </a:r>
            <a:r>
              <a:rPr sz="13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CBD5E1"/>
                </a:solidFill>
                <a:latin typeface="Plus Jakarta Sans"/>
              </a:rPr>
              <a:t>segera</a:t>
            </a:r>
            <a:r>
              <a:rPr sz="130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2275" y="3848100"/>
            <a:ext cx="1078437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FFFFFF"/>
                </a:solidFill>
                <a:latin typeface="Plus Jakarta Sans"/>
              </a:rPr>
              <a:t>Gejala Moderat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275" y="4152900"/>
            <a:ext cx="30225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00" b="0" i="0" u="none">
                <a:solidFill>
                  <a:srgbClr val="CBD5E1"/>
                </a:solidFill>
                <a:latin typeface="Plus Jakarta Sans"/>
              </a:rPr>
              <a:t>Meminta pasien menunggu panggilan sesuai nomor urut antrean resmi.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4425" y="3848100"/>
            <a:ext cx="1299138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FFFFFF"/>
                </a:solidFill>
                <a:latin typeface="Plus Jakarta Sans"/>
              </a:rPr>
              <a:t>Pemeriksaan Rutin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4425" y="4152900"/>
            <a:ext cx="30225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300" b="0" i="0" u="none">
                <a:solidFill>
                  <a:srgbClr val="CBD5E1"/>
                </a:solidFill>
                <a:latin typeface="Plus Jakarta Sans"/>
              </a:rPr>
              <a:t>Konfirmasi pendaftaran berhasil dan masuk dalam antrean umum.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4950" y="3514725"/>
            <a:ext cx="77152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F87171"/>
                </a:solidFill>
                <a:latin typeface="Plus Jakarta Sans"/>
              </a:rPr>
              <a:t>AKSI SEGERA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7600" y="3514725"/>
            <a:ext cx="58102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FBBF24"/>
                </a:solidFill>
                <a:latin typeface="Plus Jakarta Sans"/>
              </a:rPr>
              <a:t>ANTREAN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48776" y="3514725"/>
            <a:ext cx="7620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u="none" dirty="0">
                <a:solidFill>
                  <a:srgbClr val="4ADE80"/>
                </a:solidFill>
                <a:latin typeface="Plus Jakarta Sans"/>
              </a:rPr>
              <a:t>KONFIRMASI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4450" y="3457575"/>
            <a:ext cx="1000530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87171"/>
                </a:solidFill>
                <a:latin typeface="Plus Jakarta Sans"/>
              </a:rPr>
              <a:t>[</a:t>
            </a:r>
            <a:r>
              <a:rPr sz="1700" b="1" i="0" u="none" dirty="0">
                <a:solidFill>
                  <a:srgbClr val="F87171"/>
                </a:solidFill>
                <a:latin typeface="Plus Jakarta Sans"/>
              </a:rPr>
              <a:t>DARURAT</a:t>
            </a:r>
            <a:r>
              <a:rPr sz="1500" b="1" i="0" u="none" dirty="0">
                <a:solidFill>
                  <a:srgbClr val="F87171"/>
                </a:solidFill>
                <a:latin typeface="Plus Jakarta Sans"/>
              </a:rPr>
              <a:t>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6600" y="3457575"/>
            <a:ext cx="881332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BBF24"/>
                </a:solidFill>
                <a:latin typeface="Plus Jakarta Sans"/>
              </a:rPr>
              <a:t>[</a:t>
            </a:r>
            <a:r>
              <a:rPr sz="1700" b="1" i="0" u="none" dirty="0">
                <a:solidFill>
                  <a:srgbClr val="FBBF24"/>
                </a:solidFill>
                <a:latin typeface="Plus Jakarta Sans"/>
              </a:rPr>
              <a:t>SEDANG</a:t>
            </a:r>
            <a:r>
              <a:rPr sz="1500" b="1" i="0" u="none" dirty="0">
                <a:solidFill>
                  <a:srgbClr val="FBBF24"/>
                </a:solidFill>
                <a:latin typeface="Plus Jakarta Sans"/>
              </a:rPr>
              <a:t>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125" y="3457575"/>
            <a:ext cx="881652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 u="none" dirty="0">
                <a:solidFill>
                  <a:srgbClr val="4ADE80"/>
                </a:solidFill>
                <a:latin typeface="Plus Jakarta Sans"/>
              </a:rPr>
              <a:t>[RINGAN]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33400"/>
            <a:ext cx="1962150" cy="238125"/>
          </a:xfrm>
          <a:prstGeom prst="roundRect">
            <a:avLst>
              <a:gd name="adj" fmla="val 24000"/>
            </a:avLst>
          </a:prstGeom>
          <a:solidFill>
            <a:srgbClr val="173853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790825"/>
            <a:ext cx="5181600" cy="2219325"/>
          </a:xfrm>
          <a:prstGeom prst="roundRect">
            <a:avLst>
              <a:gd name="adj" fmla="val 7725"/>
            </a:avLst>
          </a:prstGeom>
          <a:solidFill>
            <a:srgbClr val="1E293B"/>
          </a:solidFill>
          <a:ln w="9525">
            <a:solidFill>
              <a:srgbClr val="1C3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790825"/>
            <a:ext cx="5181600" cy="2219325"/>
          </a:xfrm>
          <a:prstGeom prst="roundRect">
            <a:avLst>
              <a:gd name="adj" fmla="val 7725"/>
            </a:avLst>
          </a:prstGeom>
          <a:solidFill>
            <a:srgbClr val="1E293B"/>
          </a:solidFill>
          <a:ln w="9525">
            <a:solidFill>
              <a:srgbClr val="154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10991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10991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437" y="3233737"/>
            <a:ext cx="180975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" y="3800475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" y="4143375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" y="4486275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2262" y="3233737"/>
            <a:ext cx="23812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3800475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4143375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4486275"/>
            <a:ext cx="2095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8712" y="3848100"/>
            <a:ext cx="104775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8712" y="4191000"/>
            <a:ext cx="104775" cy="114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8712" y="4533900"/>
            <a:ext cx="104775" cy="1143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5112" y="3848100"/>
            <a:ext cx="104775" cy="114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5112" y="4191000"/>
            <a:ext cx="104775" cy="1143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5112" y="4533900"/>
            <a:ext cx="104775" cy="114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76300" y="571500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PERSONALISASI NOTIFIKASI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1085850"/>
            <a:ext cx="466730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FFFFFF"/>
                </a:solidFill>
                <a:latin typeface="Plus Jakarta Sans"/>
              </a:rPr>
              <a:t>Sistem</a:t>
            </a:r>
            <a:r>
              <a:rPr sz="3000" b="1" i="0" u="none" dirty="0">
                <a:solidFill>
                  <a:srgbClr val="FFFFFF"/>
                </a:solidFill>
                <a:latin typeface="Plus Jakarta Sans"/>
              </a:rPr>
              <a:t> Bot Telegram </a:t>
            </a:r>
            <a:r>
              <a:rPr sz="3000" b="1" i="0" u="none" dirty="0" err="1">
                <a:solidFill>
                  <a:srgbClr val="FFFFFF"/>
                </a:solidFill>
                <a:latin typeface="Plus Jakarta Sans"/>
              </a:rPr>
              <a:t>Terpisah</a:t>
            </a:r>
            <a:endParaRPr sz="30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47825" y="3105150"/>
            <a:ext cx="1981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 dirty="0">
                <a:solidFill>
                  <a:srgbClr val="94A3B8"/>
                </a:solidFill>
                <a:latin typeface="Plus Jakarta Sans"/>
              </a:rPr>
              <a:t>Format </a:t>
            </a:r>
            <a:r>
              <a:rPr sz="1100" b="0" i="0" u="none" dirty="0" err="1">
                <a:solidFill>
                  <a:srgbClr val="94A3B8"/>
                </a:solidFill>
                <a:latin typeface="Plus Jakarta Sans"/>
              </a:rPr>
              <a:t>Klinis</a:t>
            </a:r>
            <a:r>
              <a:rPr sz="11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100" b="0" i="0" u="none" dirty="0" err="1">
                <a:solidFill>
                  <a:srgbClr val="94A3B8"/>
                </a:solidFill>
                <a:latin typeface="Plus Jakarta Sans"/>
              </a:rPr>
              <a:t>Ringkas</a:t>
            </a:r>
            <a:endParaRPr sz="1100" b="0" i="0" u="none" dirty="0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00175" y="3805222"/>
            <a:ext cx="2126672" cy="2000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E2E8F0"/>
                </a:solidFill>
                <a:latin typeface="Plus Jakarta Sans"/>
              </a:rPr>
              <a:t>Label urgensi tegas di awal teks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0175" y="4148122"/>
            <a:ext cx="1854162" cy="2000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0" i="0" u="none" dirty="0" err="1">
                <a:solidFill>
                  <a:srgbClr val="E2E8F0"/>
                </a:solidFill>
                <a:latin typeface="Plus Jakarta Sans"/>
              </a:rPr>
              <a:t>Nomor</a:t>
            </a:r>
            <a:r>
              <a:rPr sz="13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E2E8F0"/>
                </a:solidFill>
                <a:latin typeface="Plus Jakarta Sans"/>
              </a:rPr>
              <a:t>urut</a:t>
            </a:r>
            <a:r>
              <a:rPr sz="13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E2E8F0"/>
                </a:solidFill>
                <a:latin typeface="Plus Jakarta Sans"/>
              </a:rPr>
              <a:t>antrean</a:t>
            </a:r>
            <a:r>
              <a:rPr sz="1300" b="0" i="0" u="none" dirty="0">
                <a:solidFill>
                  <a:srgbClr val="E2E8F0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E2E8F0"/>
                </a:solidFill>
                <a:latin typeface="Plus Jakarta Sans"/>
              </a:rPr>
              <a:t>pasien</a:t>
            </a:r>
            <a:endParaRPr sz="1300" b="0" i="0" u="none" dirty="0">
              <a:solidFill>
                <a:srgbClr val="E2E8F0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00175" y="4491022"/>
            <a:ext cx="2477153" cy="2000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E2E8F0"/>
                </a:solidFill>
                <a:latin typeface="Plus Jakarta Sans"/>
              </a:rPr>
              <a:t>Ringkasan keluhan medis terstruktur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4225" y="3105150"/>
            <a:ext cx="19431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u="none" dirty="0">
                <a:solidFill>
                  <a:srgbClr val="94A3B8"/>
                </a:solidFill>
                <a:latin typeface="Plus Jakarta Sans"/>
              </a:rPr>
              <a:t>Bahasa </a:t>
            </a:r>
            <a:r>
              <a:rPr sz="1100" b="0" i="0" u="none" dirty="0" err="1">
                <a:solidFill>
                  <a:srgbClr val="94A3B8"/>
                </a:solidFill>
                <a:latin typeface="Plus Jakarta Sans"/>
              </a:rPr>
              <a:t>Sapaan</a:t>
            </a:r>
            <a:r>
              <a:rPr sz="1100" b="0" i="0" u="none" dirty="0">
                <a:solidFill>
                  <a:srgbClr val="94A3B8"/>
                </a:solidFill>
                <a:latin typeface="Plus Jakarta Sans"/>
              </a:rPr>
              <a:t> Ramah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6575" y="3805222"/>
            <a:ext cx="2789418" cy="2000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E2E8F0"/>
                </a:solidFill>
                <a:latin typeface="Plus Jakarta Sans"/>
              </a:rPr>
              <a:t>Bahasa ramah, sopan, dan menenangkan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6575" y="4148122"/>
            <a:ext cx="2811988" cy="2000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E2E8F0"/>
                </a:solidFill>
                <a:latin typeface="Plus Jakarta Sans"/>
              </a:rPr>
              <a:t>Konfirmasi pendaftaran &amp; nomor antrean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6575" y="4491022"/>
            <a:ext cx="2774029" cy="2000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0" i="0" u="none">
                <a:solidFill>
                  <a:srgbClr val="E2E8F0"/>
                </a:solidFill>
                <a:latin typeface="Plus Jakarta Sans"/>
              </a:rPr>
              <a:t>Petunjuk tindakan sesuai tingkat keluhan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6053" y="3316740"/>
            <a:ext cx="178439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FFFFFF"/>
                </a:solidFill>
                <a:latin typeface="Plus Jakarta Sans"/>
              </a:rPr>
              <a:t>Bot </a:t>
            </a:r>
            <a:r>
              <a:rPr b="1" i="0" u="none" dirty="0" err="1">
                <a:solidFill>
                  <a:srgbClr val="FFFFFF"/>
                </a:solidFill>
                <a:latin typeface="Plus Jakarta Sans"/>
              </a:rPr>
              <a:t>Asisten</a:t>
            </a:r>
            <a:r>
              <a:rPr b="1" i="0" u="none" dirty="0">
                <a:solidFill>
                  <a:srgbClr val="FFFFFF"/>
                </a:solidFill>
                <a:latin typeface="Plus Jakarta Sans"/>
              </a:rPr>
              <a:t> Dokter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3984" y="3291908"/>
            <a:ext cx="175022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FFFFFF"/>
                </a:solidFill>
                <a:latin typeface="Plus Jakarta Sans"/>
              </a:rPr>
              <a:t>Bot </a:t>
            </a:r>
            <a:r>
              <a:rPr b="1" i="0" u="none" dirty="0" err="1">
                <a:solidFill>
                  <a:srgbClr val="FFFFFF"/>
                </a:solidFill>
                <a:latin typeface="Plus Jakarta Sans"/>
              </a:rPr>
              <a:t>Asisten</a:t>
            </a:r>
            <a:r>
              <a:rPr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b="1" i="0" u="none" dirty="0" err="1">
                <a:solidFill>
                  <a:srgbClr val="FFFFFF"/>
                </a:solidFill>
                <a:latin typeface="Plus Jakarta Sans"/>
              </a:rPr>
              <a:t>Pasien</a:t>
            </a:r>
            <a:endParaRPr b="1" i="0" u="none" dirty="0">
              <a:solidFill>
                <a:srgbClr val="FFFFFF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33400"/>
            <a:ext cx="1247775" cy="238125"/>
          </a:xfrm>
          <a:prstGeom prst="roundRect">
            <a:avLst>
              <a:gd name="adj" fmla="val 24000"/>
            </a:avLst>
          </a:prstGeom>
          <a:solidFill>
            <a:srgbClr val="133A34"/>
          </a:solidFill>
          <a:ln w="9525">
            <a:solidFill>
              <a:srgbClr val="215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486025"/>
            <a:ext cx="10668000" cy="2828925"/>
          </a:xfrm>
          <a:prstGeom prst="roundRect">
            <a:avLst>
              <a:gd name="adj" fmla="val 4713"/>
            </a:avLst>
          </a:prstGeom>
          <a:noFill/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Rounded Rectangle 3"/>
          <p:cNvSpPr/>
          <p:nvPr/>
        </p:nvSpPr>
        <p:spPr>
          <a:xfrm>
            <a:off x="5030241" y="3162300"/>
            <a:ext cx="723900" cy="209550"/>
          </a:xfrm>
          <a:prstGeom prst="roundRect">
            <a:avLst>
              <a:gd name="adj" fmla="val 27272"/>
            </a:avLst>
          </a:prstGeom>
          <a:solidFill>
            <a:srgbClr val="1F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" name="Rounded Rectangle 4"/>
          <p:cNvSpPr/>
          <p:nvPr/>
        </p:nvSpPr>
        <p:spPr>
          <a:xfrm>
            <a:off x="5030241" y="3619500"/>
            <a:ext cx="904875" cy="209550"/>
          </a:xfrm>
          <a:prstGeom prst="roundRect">
            <a:avLst>
              <a:gd name="adj" fmla="val 27272"/>
            </a:avLst>
          </a:prstGeom>
          <a:solidFill>
            <a:srgbClr val="394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5030241" y="4076700"/>
            <a:ext cx="628650" cy="209550"/>
          </a:xfrm>
          <a:prstGeom prst="roundRect">
            <a:avLst>
              <a:gd name="adj" fmla="val 27272"/>
            </a:avLst>
          </a:prstGeom>
          <a:solidFill>
            <a:srgbClr val="1F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Rounded Rectangle 6"/>
          <p:cNvSpPr/>
          <p:nvPr/>
        </p:nvSpPr>
        <p:spPr>
          <a:xfrm>
            <a:off x="5030241" y="4533900"/>
            <a:ext cx="933450" cy="209550"/>
          </a:xfrm>
          <a:prstGeom prst="roundRect">
            <a:avLst>
              <a:gd name="adj" fmla="val 27272"/>
            </a:avLst>
          </a:prstGeom>
          <a:solidFill>
            <a:srgbClr val="3E3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Rounded Rectangle 7"/>
          <p:cNvSpPr/>
          <p:nvPr/>
        </p:nvSpPr>
        <p:spPr>
          <a:xfrm>
            <a:off x="5030241" y="4991100"/>
            <a:ext cx="638175" cy="209550"/>
          </a:xfrm>
          <a:prstGeom prst="roundRect">
            <a:avLst>
              <a:gd name="adj" fmla="val 27272"/>
            </a:avLst>
          </a:prstGeom>
          <a:solidFill>
            <a:srgbClr val="234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4562475"/>
            <a:ext cx="1619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3190875"/>
            <a:ext cx="1619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5019675"/>
            <a:ext cx="1428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3190875"/>
            <a:ext cx="1619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4105275"/>
            <a:ext cx="1238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4562475"/>
            <a:ext cx="16192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5019675"/>
            <a:ext cx="142875" cy="14287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71525" y="2495550"/>
            <a:ext cx="10648950" cy="2809875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764384"/>
              </p:ext>
            </p:extLst>
          </p:nvPr>
        </p:nvGraphicFramePr>
        <p:xfrm>
          <a:off x="771525" y="2495550"/>
          <a:ext cx="10668001" cy="2809875"/>
        </p:xfrm>
        <a:graphic>
          <a:graphicData uri="http://schemas.openxmlformats.org/drawingml/2006/table">
            <a:tbl>
              <a:tblPr/>
              <a:tblGrid>
                <a:gridCol w="4462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3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2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312">
                <a:tc>
                  <a:txBody>
                    <a:bodyPr/>
                    <a:lstStyle/>
                    <a:p>
                      <a:pPr algn="ctr"/>
                      <a:r>
                        <a:rPr sz="1400" b="1" i="0" u="none" dirty="0">
                          <a:solidFill>
                            <a:srgbClr val="FFFFFF"/>
                          </a:solidFill>
                          <a:latin typeface="Plus Jakarta Sans"/>
                        </a:rPr>
                        <a:t>Kolom Spreadsheet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u="none" dirty="0" err="1">
                          <a:solidFill>
                            <a:srgbClr val="FFFFFF"/>
                          </a:solidFill>
                          <a:latin typeface="Plus Jakarta Sans"/>
                        </a:rPr>
                        <a:t>Tipe</a:t>
                      </a:r>
                      <a:r>
                        <a:rPr sz="1400" b="1" i="0" u="none" dirty="0">
                          <a:solidFill>
                            <a:srgbClr val="FFFFFF"/>
                          </a:solidFill>
                          <a:latin typeface="Plus Jakarta Sans"/>
                        </a:rPr>
                        <a:t>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Fungsi dalam Workflow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312">
                <a:tc>
                  <a:txBody>
                    <a:bodyPr/>
                    <a:lstStyle/>
                    <a:p>
                      <a:pPr algn="just"/>
                      <a:r>
                        <a:rPr sz="1400" b="1" i="0" u="none" dirty="0" err="1">
                          <a:solidFill>
                            <a:srgbClr val="60A5FA"/>
                          </a:solidFill>
                          <a:latin typeface="Plus Jakarta Sans"/>
                        </a:rPr>
                        <a:t>Nama_Pasien</a:t>
                      </a:r>
                      <a:endParaRPr sz="1400" b="1" i="0" u="none" dirty="0">
                        <a:solidFill>
                          <a:srgbClr val="60A5FA"/>
                        </a:solidFill>
                        <a:latin typeface="Plus Jakarta Sans"/>
                      </a:endParaRPr>
                    </a:p>
                  </a:txBody>
                  <a:tcPr marL="3524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b="0" i="0" u="none" dirty="0" err="1">
                          <a:solidFill>
                            <a:srgbClr val="CBD5E1"/>
                          </a:solidFill>
                          <a:latin typeface="Plus Jakarta Sans"/>
                        </a:rPr>
                        <a:t>Identifikasi</a:t>
                      </a:r>
                      <a:r>
                        <a:rPr sz="140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 </a:t>
                      </a:r>
                      <a:r>
                        <a:rPr sz="1400" b="0" i="0" u="none" dirty="0" err="1">
                          <a:solidFill>
                            <a:srgbClr val="CBD5E1"/>
                          </a:solidFill>
                          <a:latin typeface="Plus Jakarta Sans"/>
                        </a:rPr>
                        <a:t>identitas</a:t>
                      </a:r>
                      <a:r>
                        <a:rPr sz="140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 </a:t>
                      </a:r>
                      <a:r>
                        <a:rPr sz="1400" b="0" i="0" u="none" dirty="0" err="1">
                          <a:solidFill>
                            <a:srgbClr val="CBD5E1"/>
                          </a:solidFill>
                          <a:latin typeface="Plus Jakarta Sans"/>
                        </a:rPr>
                        <a:t>pasien</a:t>
                      </a:r>
                      <a:r>
                        <a:rPr lang="en-US" sz="140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 </a:t>
                      </a:r>
                      <a:endParaRPr sz="1400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312">
                <a:tc>
                  <a:txBody>
                    <a:bodyPr/>
                    <a:lstStyle/>
                    <a:p>
                      <a:pPr algn="just"/>
                      <a:r>
                        <a:rPr lang="en-US" sz="1400" b="1" i="0" u="none" dirty="0">
                          <a:solidFill>
                            <a:srgbClr val="60A5FA"/>
                          </a:solidFill>
                          <a:latin typeface="Plus Jakarta Sans"/>
                        </a:rPr>
                        <a:t>    </a:t>
                      </a:r>
                      <a:r>
                        <a:rPr sz="1400" b="1" i="0" u="none" dirty="0" err="1">
                          <a:solidFill>
                            <a:srgbClr val="60A5FA"/>
                          </a:solidFill>
                          <a:latin typeface="Plus Jakarta Sans"/>
                        </a:rPr>
                        <a:t>Umur_Pasien</a:t>
                      </a:r>
                      <a:endParaRPr sz="1400" b="1" i="0" u="none" dirty="0">
                        <a:solidFill>
                          <a:srgbClr val="60A5FA"/>
                        </a:solidFill>
                        <a:latin typeface="Plus Jakarta Sans"/>
                      </a:endParaRPr>
                    </a:p>
                  </a:txBody>
                  <a:tcPr marL="190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2D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2D3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b="0" i="0" u="none" dirty="0" err="1">
                          <a:solidFill>
                            <a:srgbClr val="CBD5E1"/>
                          </a:solidFill>
                          <a:latin typeface="Plus Jakarta Sans"/>
                        </a:rPr>
                        <a:t>Pertimbangan</a:t>
                      </a:r>
                      <a:r>
                        <a:rPr sz="140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 </a:t>
                      </a:r>
                      <a:r>
                        <a:rPr sz="1400" b="0" i="0" u="none" dirty="0" err="1">
                          <a:solidFill>
                            <a:srgbClr val="CBD5E1"/>
                          </a:solidFill>
                          <a:latin typeface="Plus Jakarta Sans"/>
                        </a:rPr>
                        <a:t>usia</a:t>
                      </a:r>
                      <a:r>
                        <a:rPr sz="140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 </a:t>
                      </a:r>
                      <a:r>
                        <a:rPr sz="1400" b="0" i="0" u="none" dirty="0" err="1">
                          <a:solidFill>
                            <a:srgbClr val="CBD5E1"/>
                          </a:solidFill>
                          <a:latin typeface="Plus Jakarta Sans"/>
                        </a:rPr>
                        <a:t>medis</a:t>
                      </a:r>
                      <a:endParaRPr sz="1400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2D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312">
                <a:tc>
                  <a:txBody>
                    <a:bodyPr/>
                    <a:lstStyle/>
                    <a:p>
                      <a:pPr algn="just"/>
                      <a:r>
                        <a:rPr lang="en-US" sz="1400" b="1" i="0" u="none" dirty="0">
                          <a:solidFill>
                            <a:srgbClr val="60A5FA"/>
                          </a:solidFill>
                          <a:latin typeface="Plus Jakarta Sans"/>
                        </a:rPr>
                        <a:t>       </a:t>
                      </a:r>
                      <a:r>
                        <a:rPr sz="1400" b="1" i="0" u="none" dirty="0" err="1">
                          <a:solidFill>
                            <a:srgbClr val="60A5FA"/>
                          </a:solidFill>
                          <a:latin typeface="Plus Jakarta Sans"/>
                        </a:rPr>
                        <a:t>Nomor_Telepon</a:t>
                      </a:r>
                      <a:r>
                        <a:rPr sz="1400" b="1" i="0" u="none" dirty="0">
                          <a:solidFill>
                            <a:srgbClr val="60A5FA"/>
                          </a:solidFill>
                          <a:latin typeface="Plus Jakarta Sans"/>
                        </a:rPr>
                        <a:t>/WhatsApp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Kontak </a:t>
                      </a:r>
                      <a:r>
                        <a:rPr sz="1400" b="0" i="0" u="none" dirty="0" err="1">
                          <a:solidFill>
                            <a:srgbClr val="CBD5E1"/>
                          </a:solidFill>
                          <a:latin typeface="Plus Jakarta Sans"/>
                        </a:rPr>
                        <a:t>verifikasi</a:t>
                      </a:r>
                      <a:r>
                        <a:rPr sz="140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 </a:t>
                      </a:r>
                      <a:r>
                        <a:rPr sz="1400" b="0" i="0" u="none" dirty="0" err="1">
                          <a:solidFill>
                            <a:srgbClr val="CBD5E1"/>
                          </a:solidFill>
                          <a:latin typeface="Plus Jakarta Sans"/>
                        </a:rPr>
                        <a:t>pasien</a:t>
                      </a:r>
                      <a:endParaRPr sz="1400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312">
                <a:tc>
                  <a:txBody>
                    <a:bodyPr/>
                    <a:lstStyle/>
                    <a:p>
                      <a:pPr algn="just"/>
                      <a:r>
                        <a:rPr sz="1400" b="1" i="0" u="none" dirty="0" err="1">
                          <a:solidFill>
                            <a:srgbClr val="60A5FA"/>
                          </a:solidFill>
                          <a:latin typeface="Plus Jakarta Sans"/>
                        </a:rPr>
                        <a:t>Keluhan_Utama</a:t>
                      </a:r>
                      <a:r>
                        <a:rPr sz="1400" b="1" i="0" u="none" dirty="0">
                          <a:solidFill>
                            <a:srgbClr val="60A5FA"/>
                          </a:solidFill>
                          <a:latin typeface="Plus Jakarta Sans"/>
                        </a:rPr>
                        <a:t>/</a:t>
                      </a:r>
                      <a:r>
                        <a:rPr sz="1400" b="1" i="0" u="none" dirty="0" err="1">
                          <a:solidFill>
                            <a:srgbClr val="60A5FA"/>
                          </a:solidFill>
                          <a:latin typeface="Plus Jakarta Sans"/>
                        </a:rPr>
                        <a:t>Gejala</a:t>
                      </a:r>
                      <a:endParaRPr sz="1400" b="1" i="0" u="none" dirty="0">
                        <a:solidFill>
                          <a:srgbClr val="60A5FA"/>
                        </a:solidFill>
                        <a:latin typeface="Plus Jakarta Sans"/>
                      </a:endParaRPr>
                    </a:p>
                  </a:txBody>
                  <a:tcPr marL="3524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2D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2D3F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Input </a:t>
                      </a:r>
                      <a:r>
                        <a:rPr sz="1400" b="0" i="0" u="none" dirty="0" err="1">
                          <a:solidFill>
                            <a:srgbClr val="CBD5E1"/>
                          </a:solidFill>
                          <a:latin typeface="Plus Jakarta Sans"/>
                        </a:rPr>
                        <a:t>utama</a:t>
                      </a:r>
                      <a:r>
                        <a:rPr sz="140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 </a:t>
                      </a:r>
                      <a:r>
                        <a:rPr sz="1400" b="0" i="0" u="none" dirty="0" err="1">
                          <a:solidFill>
                            <a:srgbClr val="CBD5E1"/>
                          </a:solidFill>
                          <a:latin typeface="Plus Jakarta Sans"/>
                        </a:rPr>
                        <a:t>analisis</a:t>
                      </a:r>
                      <a:r>
                        <a:rPr sz="140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 </a:t>
                      </a:r>
                      <a:r>
                        <a:rPr sz="1400" b="0" i="0" u="none" dirty="0" err="1">
                          <a:solidFill>
                            <a:srgbClr val="CBD5E1"/>
                          </a:solidFill>
                          <a:latin typeface="Plus Jakarta Sans"/>
                        </a:rPr>
                        <a:t>triase</a:t>
                      </a:r>
                      <a:r>
                        <a:rPr sz="140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 Gemini 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32D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315">
                <a:tc>
                  <a:txBody>
                    <a:bodyPr/>
                    <a:lstStyle/>
                    <a:p>
                      <a:pPr algn="just"/>
                      <a:r>
                        <a:rPr sz="1400" b="1" i="0" u="none" dirty="0" err="1">
                          <a:solidFill>
                            <a:srgbClr val="60A5FA"/>
                          </a:solidFill>
                          <a:latin typeface="Plus Jakarta Sans"/>
                        </a:rPr>
                        <a:t>Tanggal_Kunjungan</a:t>
                      </a:r>
                      <a:endParaRPr sz="1400" b="1" i="0" u="none" dirty="0">
                        <a:solidFill>
                          <a:srgbClr val="60A5FA"/>
                        </a:solidFill>
                        <a:latin typeface="Plus Jakarta Sans"/>
                      </a:endParaRPr>
                    </a:p>
                  </a:txBody>
                  <a:tcPr marL="3333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Jadwal </a:t>
                      </a:r>
                      <a:r>
                        <a:rPr sz="1400" b="0" i="0" u="none" dirty="0" err="1">
                          <a:solidFill>
                            <a:srgbClr val="CBD5E1"/>
                          </a:solidFill>
                          <a:latin typeface="Plus Jakarta Sans"/>
                        </a:rPr>
                        <a:t>registrasi</a:t>
                      </a:r>
                      <a:r>
                        <a:rPr sz="1400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 </a:t>
                      </a:r>
                      <a:r>
                        <a:rPr sz="1400" b="0" i="0" u="none" dirty="0" err="1">
                          <a:solidFill>
                            <a:srgbClr val="CBD5E1"/>
                          </a:solidFill>
                          <a:latin typeface="Plus Jakarta Sans"/>
                        </a:rPr>
                        <a:t>kedatangan</a:t>
                      </a:r>
                      <a:endParaRPr sz="1400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76300" y="571500"/>
            <a:ext cx="11144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4ADE80"/>
                </a:solidFill>
                <a:latin typeface="Plus Jakarta Sans"/>
              </a:rPr>
              <a:t>INTEGRASI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910423"/>
            <a:ext cx="5255606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FFFFFF"/>
                </a:solidFill>
                <a:latin typeface="Plus Jakarta Sans"/>
              </a:rPr>
              <a:t>Struktur</a:t>
            </a:r>
            <a:r>
              <a:rPr sz="3000" b="1" i="0" u="none" dirty="0">
                <a:solidFill>
                  <a:srgbClr val="FFFFFF"/>
                </a:solidFill>
                <a:latin typeface="Plus Jakarta Sans"/>
              </a:rPr>
              <a:t> Database Google Sheets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5170" y="3082022"/>
            <a:ext cx="11313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93C5FD"/>
                </a:solidFill>
                <a:latin typeface="Plus Jakarta Sans"/>
              </a:rPr>
              <a:t>Teks 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7711" y="3539222"/>
            <a:ext cx="115044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CBD5E1"/>
                </a:solidFill>
                <a:latin typeface="Plus Jakarta Sans"/>
              </a:rPr>
              <a:t>Angka / Teks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0369" y="4083963"/>
            <a:ext cx="98955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 dirty="0" err="1">
                <a:solidFill>
                  <a:srgbClr val="86EFAC"/>
                </a:solidFill>
                <a:latin typeface="Plus Jakarta Sans"/>
              </a:rPr>
              <a:t>Telepon</a:t>
            </a:r>
            <a:endParaRPr sz="1400" b="1" i="0" u="none" dirty="0">
              <a:solidFill>
                <a:srgbClr val="86EFAC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05053" y="4495763"/>
            <a:ext cx="112187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D8B4FE"/>
                </a:solidFill>
                <a:latin typeface="Plus Jakarta Sans"/>
              </a:rPr>
              <a:t>Teks Panjang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4635" y="5019675"/>
            <a:ext cx="58102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 err="1">
                <a:solidFill>
                  <a:srgbClr val="7DD3FC"/>
                </a:solidFill>
                <a:latin typeface="Plus Jakarta Sans"/>
              </a:rPr>
              <a:t>Tanggal</a:t>
            </a:r>
            <a:endParaRPr sz="1400" b="1" i="0" u="none" dirty="0">
              <a:solidFill>
                <a:srgbClr val="7DD3FC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533400"/>
            <a:ext cx="1095375" cy="238125"/>
          </a:xfrm>
          <a:prstGeom prst="roundRect">
            <a:avLst>
              <a:gd name="adj" fmla="val 24000"/>
            </a:avLst>
          </a:prstGeom>
          <a:solidFill>
            <a:srgbClr val="372A23"/>
          </a:solidFill>
          <a:ln w="9525">
            <a:solidFill>
              <a:srgbClr val="564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3" name="Rounded Rectangle 2"/>
          <p:cNvSpPr/>
          <p:nvPr/>
        </p:nvSpPr>
        <p:spPr>
          <a:xfrm>
            <a:off x="762000" y="3009900"/>
            <a:ext cx="2524125" cy="1819275"/>
          </a:xfrm>
          <a:prstGeom prst="roundRect">
            <a:avLst>
              <a:gd name="adj" fmla="val 8376"/>
            </a:avLst>
          </a:prstGeom>
          <a:solidFill>
            <a:srgbClr val="1E293B"/>
          </a:solidFill>
          <a:ln w="9525">
            <a:solidFill>
              <a:srgbClr val="22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4" name="Rounded Rectangle 3"/>
          <p:cNvSpPr/>
          <p:nvPr/>
        </p:nvSpPr>
        <p:spPr>
          <a:xfrm>
            <a:off x="3476625" y="3009900"/>
            <a:ext cx="2524125" cy="1819275"/>
          </a:xfrm>
          <a:prstGeom prst="roundRect">
            <a:avLst>
              <a:gd name="adj" fmla="val 8376"/>
            </a:avLst>
          </a:prstGeom>
          <a:solidFill>
            <a:srgbClr val="1E293B"/>
          </a:solidFill>
          <a:ln w="9525">
            <a:solidFill>
              <a:srgbClr val="22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5" name="Rounded Rectangle 4"/>
          <p:cNvSpPr/>
          <p:nvPr/>
        </p:nvSpPr>
        <p:spPr>
          <a:xfrm>
            <a:off x="6191250" y="3009900"/>
            <a:ext cx="2524125" cy="1819275"/>
          </a:xfrm>
          <a:prstGeom prst="roundRect">
            <a:avLst>
              <a:gd name="adj" fmla="val 8376"/>
            </a:avLst>
          </a:prstGeom>
          <a:solidFill>
            <a:srgbClr val="1E293B"/>
          </a:solidFill>
          <a:ln w="9525">
            <a:solidFill>
              <a:srgbClr val="22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6" name="Rounded Rectangle 5"/>
          <p:cNvSpPr/>
          <p:nvPr/>
        </p:nvSpPr>
        <p:spPr>
          <a:xfrm>
            <a:off x="8905875" y="3009900"/>
            <a:ext cx="2524125" cy="1819275"/>
          </a:xfrm>
          <a:prstGeom prst="roundRect">
            <a:avLst>
              <a:gd name="adj" fmla="val 8376"/>
            </a:avLst>
          </a:prstGeom>
          <a:solidFill>
            <a:srgbClr val="1E293B"/>
          </a:solidFill>
          <a:ln w="9525">
            <a:solidFill>
              <a:srgbClr val="22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7" name="Rounded Rectangle 6"/>
          <p:cNvSpPr/>
          <p:nvPr/>
        </p:nvSpPr>
        <p:spPr>
          <a:xfrm>
            <a:off x="1814512" y="32861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15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8" name="Rounded Rectangle 7"/>
          <p:cNvSpPr/>
          <p:nvPr/>
        </p:nvSpPr>
        <p:spPr>
          <a:xfrm>
            <a:off x="4529137" y="32861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15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9" name="Rounded Rectangle 8"/>
          <p:cNvSpPr/>
          <p:nvPr/>
        </p:nvSpPr>
        <p:spPr>
          <a:xfrm>
            <a:off x="7243762" y="32861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15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0" name="Rounded Rectangle 9"/>
          <p:cNvSpPr/>
          <p:nvPr/>
        </p:nvSpPr>
        <p:spPr>
          <a:xfrm>
            <a:off x="9958387" y="32861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15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00"/>
          </a:p>
        </p:txBody>
      </p:sp>
      <p:sp>
        <p:nvSpPr>
          <p:cNvPr id="11" name="TextBox 10"/>
          <p:cNvSpPr txBox="1"/>
          <p:nvPr/>
        </p:nvSpPr>
        <p:spPr>
          <a:xfrm>
            <a:off x="876300" y="571500"/>
            <a:ext cx="9620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BBF24"/>
                </a:solidFill>
                <a:latin typeface="Plus Jakarta Sans"/>
              </a:rPr>
              <a:t>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05185"/>
            <a:ext cx="4677819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FFFFFF"/>
                </a:solidFill>
                <a:latin typeface="Plus Jakarta Sans"/>
              </a:rPr>
              <a:t>Langkah </a:t>
            </a:r>
            <a:r>
              <a:rPr sz="3000" b="1" i="0" u="none" dirty="0" err="1">
                <a:solidFill>
                  <a:srgbClr val="FFFFFF"/>
                </a:solidFill>
                <a:latin typeface="Plus Jakarta Sans"/>
              </a:rPr>
              <a:t>Menjalankan</a:t>
            </a:r>
            <a:r>
              <a:rPr sz="30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3000" b="1" i="0" u="none" dirty="0" err="1">
                <a:solidFill>
                  <a:srgbClr val="FFFFFF"/>
                </a:solidFill>
                <a:latin typeface="Plus Jakarta Sans"/>
              </a:rPr>
              <a:t>Proyek</a:t>
            </a:r>
            <a:endParaRPr sz="30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71637" y="3395647"/>
            <a:ext cx="70485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5565" y="3857625"/>
            <a:ext cx="1196994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Plus Jakarta Sans"/>
              </a:rPr>
              <a:t>Import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515" y="4152900"/>
            <a:ext cx="2655093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300" b="0" i="0" u="none" dirty="0" err="1">
                <a:solidFill>
                  <a:srgbClr val="CBD5E1"/>
                </a:solidFill>
                <a:latin typeface="Plus Jakarta Sans"/>
              </a:rPr>
              <a:t>Unggah</a:t>
            </a:r>
            <a:r>
              <a:rPr sz="1300" b="0" i="0" u="none" dirty="0">
                <a:solidFill>
                  <a:srgbClr val="CBD5E1"/>
                </a:solidFill>
                <a:latin typeface="Plus Jakarta Sans"/>
              </a:rPr>
              <a:t> file JSON </a:t>
            </a:r>
            <a:r>
              <a:rPr sz="1300" b="0" i="0" u="none" dirty="0" err="1">
                <a:solidFill>
                  <a:srgbClr val="CBD5E1"/>
                </a:solidFill>
                <a:latin typeface="Plus Jakarta Sans"/>
              </a:rPr>
              <a:t>ke</a:t>
            </a:r>
            <a:r>
              <a:rPr sz="13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300" b="0" i="0" u="none" dirty="0" err="1">
                <a:solidFill>
                  <a:srgbClr val="CBD5E1"/>
                </a:solidFill>
                <a:latin typeface="Plus Jakarta Sans"/>
              </a:rPr>
              <a:t>dalam</a:t>
            </a:r>
            <a:r>
              <a:rPr sz="1300" b="0" i="0" u="none" dirty="0">
                <a:solidFill>
                  <a:srgbClr val="CBD5E1"/>
                </a:solidFill>
                <a:latin typeface="Plus Jakarta Sans"/>
              </a:rPr>
              <a:t> n8n.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6262" y="3395647"/>
            <a:ext cx="70485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073" y="3857625"/>
            <a:ext cx="1065227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Plus Jakarta Sans"/>
              </a:rPr>
              <a:t>Atur Kredensial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1140" y="4152900"/>
            <a:ext cx="26550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300" b="0" i="0" u="none">
                <a:solidFill>
                  <a:srgbClr val="CBD5E1"/>
                </a:solidFill>
                <a:latin typeface="Plus Jakarta Sans"/>
              </a:rPr>
              <a:t>Hubungkan API Gemini, Sheets, &amp; Telegram.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0887" y="3395647"/>
            <a:ext cx="70485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9562" y="3857625"/>
            <a:ext cx="1167499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Plus Jakarta Sans"/>
              </a:rPr>
              <a:t>Set Document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5765" y="4152900"/>
            <a:ext cx="2655093" cy="197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300" b="0" i="0" u="none">
                <a:solidFill>
                  <a:srgbClr val="CBD5E1"/>
                </a:solidFill>
                <a:latin typeface="Plus Jakarta Sans"/>
              </a:rPr>
              <a:t>Sesuaikan ID Google Sheets target.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5512" y="3395647"/>
            <a:ext cx="70485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9841" y="3857625"/>
            <a:ext cx="1076192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Plus Jakarta Sans"/>
              </a:rPr>
              <a:t>Aktivasi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0390" y="4152900"/>
            <a:ext cx="26550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300" b="0" i="0" u="none">
                <a:solidFill>
                  <a:srgbClr val="CBD5E1"/>
                </a:solidFill>
                <a:latin typeface="Plus Jakarta Sans"/>
              </a:rPr>
              <a:t>Aktifkan workflow dan jalankan pengujian.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1618" y="1890712"/>
            <a:ext cx="1528762" cy="285750"/>
          </a:xfrm>
          <a:prstGeom prst="roundRect">
            <a:avLst>
              <a:gd name="adj" fmla="val 50000"/>
            </a:avLst>
          </a:prstGeom>
          <a:solidFill>
            <a:srgbClr val="1C2C48"/>
          </a:solidFill>
          <a:ln w="9525">
            <a:solidFill>
              <a:srgbClr val="284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033587" y="3509962"/>
            <a:ext cx="2581275" cy="1428750"/>
          </a:xfrm>
          <a:prstGeom prst="roundRect">
            <a:avLst>
              <a:gd name="adj" fmla="val 13333"/>
            </a:avLst>
          </a:prstGeom>
          <a:solidFill>
            <a:srgbClr val="1A2032"/>
          </a:solidFill>
          <a:ln w="9525">
            <a:solidFill>
              <a:srgbClr val="23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919662" y="3509962"/>
            <a:ext cx="2733675" cy="1428750"/>
          </a:xfrm>
          <a:prstGeom prst="roundRect">
            <a:avLst>
              <a:gd name="adj" fmla="val 13333"/>
            </a:avLst>
          </a:prstGeom>
          <a:solidFill>
            <a:srgbClr val="1A2032"/>
          </a:solidFill>
          <a:ln w="9525">
            <a:solidFill>
              <a:srgbClr val="23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958137" y="3509962"/>
            <a:ext cx="2200275" cy="1428750"/>
          </a:xfrm>
          <a:prstGeom prst="roundRect">
            <a:avLst>
              <a:gd name="adj" fmla="val 13333"/>
            </a:avLst>
          </a:prstGeom>
          <a:solidFill>
            <a:srgbClr val="1A2032"/>
          </a:solidFill>
          <a:ln w="9525">
            <a:solidFill>
              <a:srgbClr val="23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92923" y="1947862"/>
            <a:ext cx="160615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60A5FA"/>
                </a:solidFill>
                <a:latin typeface="Plus Jakarta Sans"/>
              </a:rPr>
              <a:t>RINGKASAN</a:t>
            </a:r>
            <a:r>
              <a:rPr sz="975" b="1" i="0" u="none" dirty="0">
                <a:solidFill>
                  <a:srgbClr val="60A5FA"/>
                </a:solidFill>
                <a:latin typeface="Plus Jakarta Sans"/>
              </a:rPr>
              <a:t> HASIL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2619" y="2233612"/>
            <a:ext cx="5026761" cy="53860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500" b="1" i="0" u="none" dirty="0" err="1">
                <a:solidFill>
                  <a:srgbClr val="FFFFFF"/>
                </a:solidFill>
                <a:latin typeface="Plus Jakarta Sans"/>
              </a:rPr>
              <a:t>Dampak</a:t>
            </a:r>
            <a:r>
              <a:rPr sz="35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3500" b="1" i="0" u="none" dirty="0" err="1">
                <a:solidFill>
                  <a:srgbClr val="FFFFFF"/>
                </a:solidFill>
                <a:latin typeface="Plus Jakarta Sans"/>
              </a:rPr>
              <a:t>Operasional</a:t>
            </a:r>
            <a:r>
              <a:rPr sz="3500" b="1" i="0" u="none" dirty="0">
                <a:solidFill>
                  <a:srgbClr val="FFFFFF"/>
                </a:solidFill>
                <a:latin typeface="Plus Jakarta Sans"/>
              </a:rPr>
              <a:t> Klinik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0255" y="2833687"/>
            <a:ext cx="591149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Transformasi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digital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pendaftaran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pasien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menuju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layanan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kesehatan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modern.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4334" y="3786187"/>
            <a:ext cx="2059781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sz="4500" b="1" i="0" u="none">
                <a:solidFill>
                  <a:srgbClr val="38BDF8"/>
                </a:solidFill>
                <a:latin typeface="Plus Jakarta Sans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4334" y="4452937"/>
            <a:ext cx="205978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E2E8F0"/>
                </a:solidFill>
                <a:latin typeface="Plus Jakarta Sans"/>
              </a:rPr>
              <a:t>Pencatatan Digital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359" y="3786187"/>
            <a:ext cx="2250281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sz="4500" b="1" i="0" u="none">
                <a:solidFill>
                  <a:srgbClr val="4ADE80"/>
                </a:solidFill>
                <a:latin typeface="Plus Jakarta Sans"/>
              </a:rPr>
              <a:t>&lt; 5dtk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1359" y="4452937"/>
            <a:ext cx="225028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E2E8F0"/>
                </a:solidFill>
                <a:latin typeface="Plus Jakarta Sans"/>
              </a:rPr>
              <a:t>Respon Notifikasi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509" y="3786187"/>
            <a:ext cx="1583531" cy="571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sz="4500" b="1" i="0" u="none">
                <a:solidFill>
                  <a:srgbClr val="C084FC"/>
                </a:solidFill>
                <a:latin typeface="Plus Jakarta Sans"/>
              </a:rPr>
              <a:t>Zero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509" y="4452937"/>
            <a:ext cx="158353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E2E8F0"/>
                </a:solidFill>
                <a:latin typeface="Plus Jakarta Sans"/>
              </a:rPr>
              <a:t>Kertas Fisik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7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5DE9C1-8EB5-301C-F263-F08C11B8F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A42F8CD-6D73-FCBD-C09C-3676263F6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1CF5DD-0DA9-CE21-7B1C-C9D0FBE2E5C3}"/>
              </a:ext>
            </a:extLst>
          </p:cNvPr>
          <p:cNvSpPr txBox="1"/>
          <p:nvPr/>
        </p:nvSpPr>
        <p:spPr>
          <a:xfrm>
            <a:off x="3129451" y="2890391"/>
            <a:ext cx="5933099" cy="135421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800" b="1" i="0" u="none" dirty="0" err="1">
                <a:solidFill>
                  <a:srgbClr val="FFFFFF"/>
                </a:solidFill>
                <a:latin typeface="Plus Jakarta Sans"/>
              </a:rPr>
              <a:t>Terima</a:t>
            </a:r>
            <a:r>
              <a:rPr sz="8800" b="1" i="0" u="none" dirty="0">
                <a:solidFill>
                  <a:srgbClr val="FFFFFF"/>
                </a:solidFill>
                <a:latin typeface="Plus Jakarta Sans"/>
              </a:rPr>
              <a:t> Kasih</a:t>
            </a:r>
          </a:p>
        </p:txBody>
      </p:sp>
    </p:spTree>
    <p:extLst>
      <p:ext uri="{BB962C8B-B14F-4D97-AF65-F5344CB8AC3E}">
        <p14:creationId xmlns:p14="http://schemas.microsoft.com/office/powerpoint/2010/main" val="759398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481</Words>
  <Application>Microsoft Office PowerPoint</Application>
  <PresentationFormat>Widescreen</PresentationFormat>
  <Paragraphs>127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Plus Jakarta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iki</dc:creator>
  <cp:keywords/>
  <dc:description>generated using python-pptx</dc:description>
  <cp:lastModifiedBy>Rizky Suhadi</cp:lastModifiedBy>
  <cp:revision>3</cp:revision>
  <dcterms:created xsi:type="dcterms:W3CDTF">2013-01-27T09:14:16Z</dcterms:created>
  <dcterms:modified xsi:type="dcterms:W3CDTF">2026-10-01T12:57:26Z</dcterms:modified>
  <cp:category/>
</cp:coreProperties>
</file>